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2" r:id="rId10"/>
    <p:sldId id="266" r:id="rId11"/>
    <p:sldId id="267" r:id="rId12"/>
    <p:sldId id="269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0" autoAdjust="0"/>
    <p:restoredTop sz="94660"/>
  </p:normalViewPr>
  <p:slideViewPr>
    <p:cSldViewPr snapToGrid="0">
      <p:cViewPr varScale="1">
        <p:scale>
          <a:sx n="77" d="100"/>
          <a:sy n="77" d="100"/>
        </p:scale>
        <p:origin x="119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5ED6-2191-7DB2-6061-01E72EEBF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B37BD-37BF-7DA5-6C0B-3A4D34649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16D34-BEAC-52F6-D8AB-8FE2AD042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7A0B6-D8C1-4502-51AB-451CC078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A6639-9631-212F-FB67-54D0F342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2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97B7-D356-5434-875D-EC97C35A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80914-0E49-F277-99EF-1DAFE29CE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B7455-B533-F012-56B6-76A27824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98A84-6B14-792A-31EB-3F9799C00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42899-2973-7E7B-48E9-1A8C88B0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1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385DA-F9A7-1E74-5DA1-B53993DA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547-B857-67ED-5041-D5AB2BFDC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9F8B8-FA84-28FA-A2B6-7F16409CD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B769C-6E7B-EC03-EB10-5590D7EB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1653C-E5B3-BF0B-4AF5-F64A4424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02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7E60-F35B-525A-5402-91E02F8C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E6686-5D2F-B491-43A2-614481A9B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37169-249F-E573-D219-95D280B8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E7076-422F-98FF-07A5-D8531C2E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7DC4A-4E21-D397-D237-81C3BCC0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B1BF6-4194-520E-01B1-C95CF78D8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0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6111-7D3E-9E26-8C5B-9FD2069B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19E5D-BA08-38BB-AC6E-8C7844931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910FB-CB32-F947-148D-C38CBD902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A944AF-A5E5-8D1C-A166-2EAD233CC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9A0594-B222-C144-0923-F4F2F9791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12424A-5662-EC0B-2DC7-253EF562F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DF36B9-1B5A-4701-C613-30BA05AB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3C7AAD-FCE8-B9A7-7D70-1A1565E9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9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BB4C0-AA2A-8D55-F8C0-59EB56C2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0B831-5FF7-0332-61F3-CD667E66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B558A-98F4-B591-C2ED-19EA7B9B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3DC6E-46C3-6A22-1755-8A1A975F3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44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694EC-F4BF-C34A-90F6-442C4B5F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2486D-EF0F-04C1-F8CD-C8B3D917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58D1E-1C42-9370-A2CE-D0C64756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2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F15D-21A2-B3DD-ED5C-39D91E871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C289E-5348-346B-5679-A2FBD2813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44B79-D706-1B04-304E-ECBE26EDB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2FFC1-8E31-1CD1-2F5B-BCFF62DD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9DAD3-8BBE-3B0E-AE5D-AF5ED990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0059C-AA1D-001D-CB3D-080DAD3E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0D5A-B62B-C94D-7541-7C3740CE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5F7A6-6907-DE27-A009-C0A456A87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6196D-7C6C-C416-BEF5-26BE89E06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17EFC-56BC-588D-CF72-BC64C2B9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F3D68-B3F3-7EB6-33AC-F379AE35D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97CE7-50D7-0860-C777-70320DB2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4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DACD-AFD5-0076-3A83-39D2CB2D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E508C-8B81-F8EB-BE83-7A686A1D3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3A8D1-FBD0-019F-D446-03B5498F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8BC63-3317-4810-E304-94584A34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AB8FB-E3E1-A757-D45E-2BDDC93F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9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64D59-08FE-BDAC-FA5E-D5382C8D6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76024-1F52-FDE6-F6E0-B2419DCBB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438FC-5050-C9FA-86C5-F64C9477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AE360-9B32-6221-1650-217390C2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E3148-54EC-E30F-114A-B37A0E2D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6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B8D60E-AC35-5B70-D104-4445FBC7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9562D-5137-7593-0961-A5FB5EE7B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09691-0ED3-E5C6-B082-1A013EC22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D6741-21C4-40A8-AA3B-81C7FD52286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14C8B-6FAE-68AE-FFEB-D599D2CF6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30943-5CBF-B431-482D-16CAC720A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4DBE6-228C-4CF7-989A-1EA1810F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0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6318F9-CCF7-7396-C924-5CED4BB84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8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8CB4C0-AC6B-AED8-886B-3B4BC7ACB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781033-471F-7259-1F03-A022CC435742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dirty="0"/>
              <a:t>01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0F804184-0CDF-8414-8575-3C25BDAE3D7A}"/>
              </a:ext>
            </a:extLst>
          </p:cNvPr>
          <p:cNvSpPr/>
          <p:nvPr/>
        </p:nvSpPr>
        <p:spPr>
          <a:xfrm>
            <a:off x="822960" y="11887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HACKATHON FOR PEOPLE WITH DISABILITIES  ·  KSCDR  ·  RIYADH 2026</a:t>
            </a:r>
            <a:endParaRPr lang="en-US" sz="11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3D798B15-2ED5-5108-4A26-139CB3509CB6}"/>
              </a:ext>
            </a:extLst>
          </p:cNvPr>
          <p:cNvSpPr/>
          <p:nvPr/>
        </p:nvSpPr>
        <p:spPr>
          <a:xfrm>
            <a:off x="822960" y="157276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Submission</a:t>
            </a:r>
            <a:endParaRPr lang="en-US" sz="4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7C43256-372C-0663-4BDE-2029D3FDAC12}"/>
              </a:ext>
            </a:extLst>
          </p:cNvPr>
          <p:cNvSpPr/>
          <p:nvPr/>
        </p:nvSpPr>
        <p:spPr>
          <a:xfrm>
            <a:off x="822960" y="2642616"/>
            <a:ext cx="60350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Template</a:t>
            </a:r>
            <a:endParaRPr lang="en-US" sz="4600" dirty="0">
              <a:solidFill>
                <a:schemeClr val="accent1"/>
              </a:solidFill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0094A5DE-C5AF-106C-A224-40A04A6D4F54}"/>
              </a:ext>
            </a:extLst>
          </p:cNvPr>
          <p:cNvSpPr/>
          <p:nvPr/>
        </p:nvSpPr>
        <p:spPr>
          <a:xfrm>
            <a:off x="7498080" y="1664208"/>
            <a:ext cx="4206240" cy="3685032"/>
          </a:xfrm>
          <a:prstGeom prst="roundRect">
            <a:avLst>
              <a:gd name="adj" fmla="val 263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5F8F0F30-B8D7-0EE0-BEDA-AD12AB3F4C36}"/>
              </a:ext>
            </a:extLst>
          </p:cNvPr>
          <p:cNvSpPr/>
          <p:nvPr/>
        </p:nvSpPr>
        <p:spPr>
          <a:xfrm>
            <a:off x="7579879" y="176638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DETAILS</a:t>
            </a:r>
            <a:endParaRPr lang="en-US" sz="11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5F1C6139-295A-2797-45BB-697EE2D8B6EC}"/>
              </a:ext>
            </a:extLst>
          </p:cNvPr>
          <p:cNvSpPr/>
          <p:nvPr/>
        </p:nvSpPr>
        <p:spPr>
          <a:xfrm>
            <a:off x="7579879" y="26563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</a:t>
            </a:r>
            <a:endParaRPr lang="en-US" sz="9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F256F99-F040-2217-2C4D-7DE5E13DF707}"/>
              </a:ext>
            </a:extLst>
          </p:cNvPr>
          <p:cNvSpPr/>
          <p:nvPr/>
        </p:nvSpPr>
        <p:spPr>
          <a:xfrm>
            <a:off x="7579879" y="28575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project name ]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55EA36DF-FCC2-389D-6ED6-C3C923BF9164}"/>
              </a:ext>
            </a:extLst>
          </p:cNvPr>
          <p:cNvSpPr/>
          <p:nvPr/>
        </p:nvSpPr>
        <p:spPr>
          <a:xfrm>
            <a:off x="7579879" y="3182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CA0AF54F-2757-C8D6-6210-FCCD70C0CB40}"/>
              </a:ext>
            </a:extLst>
          </p:cNvPr>
          <p:cNvSpPr/>
          <p:nvPr/>
        </p:nvSpPr>
        <p:spPr>
          <a:xfrm>
            <a:off x="7579879" y="33832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Team name  ·  2–5 members ]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A15E0B6F-50C4-0CD4-C209-B317A73D46C2}"/>
              </a:ext>
            </a:extLst>
          </p:cNvPr>
          <p:cNvSpPr/>
          <p:nvPr/>
        </p:nvSpPr>
        <p:spPr>
          <a:xfrm>
            <a:off x="7579879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C2ED3CFB-D266-2EB8-3416-5CE28EB7B6FC}"/>
              </a:ext>
            </a:extLst>
          </p:cNvPr>
          <p:cNvSpPr/>
          <p:nvPr/>
        </p:nvSpPr>
        <p:spPr>
          <a:xfrm>
            <a:off x="7579879" y="40599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 Everyday Life · 2 Health · 3 Education · 4 Hajj &amp; Umrah ]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571BA94A-6F47-2590-0887-6AF1BDB8BAAD}"/>
              </a:ext>
            </a:extLst>
          </p:cNvPr>
          <p:cNvSpPr/>
          <p:nvPr/>
        </p:nvSpPr>
        <p:spPr>
          <a:xfrm>
            <a:off x="7579879" y="45354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AA24A125-BAC8-7B77-B993-CE4E914DE417}"/>
              </a:ext>
            </a:extLst>
          </p:cNvPr>
          <p:cNvSpPr/>
          <p:nvPr/>
        </p:nvSpPr>
        <p:spPr>
          <a:xfrm>
            <a:off x="7579879" y="47365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Individuals  /  Companies &amp; Institutions ]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AFC56437-B8D0-E1B4-789C-78DBB6C8C779}"/>
              </a:ext>
            </a:extLst>
          </p:cNvPr>
          <p:cNvSpPr/>
          <p:nvPr/>
        </p:nvSpPr>
        <p:spPr>
          <a:xfrm>
            <a:off x="7452360" y="1243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0CF45218-4FE3-692A-CEE5-8EA8FC72AACE}"/>
              </a:ext>
            </a:extLst>
          </p:cNvPr>
          <p:cNvSpPr/>
          <p:nvPr/>
        </p:nvSpPr>
        <p:spPr>
          <a:xfrm>
            <a:off x="7452360" y="14447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03578718-4C3B-3CF9-A3F9-F1665E902F4A}"/>
              </a:ext>
            </a:extLst>
          </p:cNvPr>
          <p:cNvSpPr/>
          <p:nvPr/>
        </p:nvSpPr>
        <p:spPr>
          <a:xfrm>
            <a:off x="7579879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00" dirty="0">
                <a:solidFill>
                  <a:srgbClr val="9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r>
              <a:rPr lang="en-US" sz="900" b="1" kern="0" spc="100" dirty="0" smtClean="0">
                <a:solidFill>
                  <a:srgbClr val="9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9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A3E013AE-C44F-1923-C92A-6B498107A84F}"/>
              </a:ext>
            </a:extLst>
          </p:cNvPr>
          <p:cNvSpPr/>
          <p:nvPr/>
        </p:nvSpPr>
        <p:spPr>
          <a:xfrm>
            <a:off x="7579879" y="2286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e.x</a:t>
            </a: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KSCDR_Hackathon</a:t>
            </a:r>
            <a:r>
              <a:rPr lang="en-US" sz="1200" i="1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_###</a:t>
            </a:r>
            <a:r>
              <a:rPr lang="en-US" sz="1200" i="1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11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A8572-951A-6CDC-5D04-E74914013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471A2E-18CD-D85F-DFBC-481D06D77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3F3E39-D628-BEFA-B951-5D0C4D196659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dirty="0"/>
              <a:t>03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A6E6345-5CCE-D1BF-5B61-D9425ACB5455}"/>
              </a:ext>
            </a:extLst>
          </p:cNvPr>
          <p:cNvSpPr/>
          <p:nvPr/>
        </p:nvSpPr>
        <p:spPr>
          <a:xfrm>
            <a:off x="531888" y="640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F5126C92-4A68-C7D4-43EF-C49EF763D8BE}"/>
              </a:ext>
            </a:extLst>
          </p:cNvPr>
          <p:cNvSpPr/>
          <p:nvPr/>
        </p:nvSpPr>
        <p:spPr>
          <a:xfrm>
            <a:off x="531888" y="3383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and project snapshot</a:t>
            </a:r>
            <a:endParaRPr lang="en-US" sz="30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487C4AA1-8B88-D304-E8EF-989F7F8F17E7}"/>
              </a:ext>
            </a:extLst>
          </p:cNvPr>
          <p:cNvSpPr/>
          <p:nvPr/>
        </p:nvSpPr>
        <p:spPr>
          <a:xfrm>
            <a:off x="531888" y="1280160"/>
            <a:ext cx="5404104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1E68B8E-F1D1-1896-52E6-FF3E6300EFE4}"/>
              </a:ext>
            </a:extLst>
          </p:cNvPr>
          <p:cNvSpPr/>
          <p:nvPr/>
        </p:nvSpPr>
        <p:spPr>
          <a:xfrm>
            <a:off x="806208" y="15270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106BB037-F1BC-0A38-01C0-9CD8897EC374}"/>
              </a:ext>
            </a:extLst>
          </p:cNvPr>
          <p:cNvSpPr/>
          <p:nvPr/>
        </p:nvSpPr>
        <p:spPr>
          <a:xfrm>
            <a:off x="806208" y="189280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pitch</a:t>
            </a:r>
            <a:endParaRPr lang="en-US" sz="10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962738D8-D0F2-ACB3-6A47-1389B75DE02C}"/>
              </a:ext>
            </a:extLst>
          </p:cNvPr>
          <p:cNvSpPr/>
          <p:nvPr/>
        </p:nvSpPr>
        <p:spPr>
          <a:xfrm>
            <a:off x="806208" y="21122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We help &lt;who&gt; to &lt;do what&gt; by &lt;how&gt;, so that &lt;outcome&gt;. Max 20 words. ]</a:t>
            </a:r>
            <a:endParaRPr lang="en-US" sz="12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63D7F447-EF45-66C7-F92D-1FD9E5124CFA}"/>
              </a:ext>
            </a:extLst>
          </p:cNvPr>
          <p:cNvSpPr/>
          <p:nvPr/>
        </p:nvSpPr>
        <p:spPr>
          <a:xfrm>
            <a:off x="806208" y="27614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4020AB73-C71F-9BA5-C773-9D4B9999EE40}"/>
              </a:ext>
            </a:extLst>
          </p:cNvPr>
          <p:cNvSpPr/>
          <p:nvPr/>
        </p:nvSpPr>
        <p:spPr>
          <a:xfrm>
            <a:off x="806208" y="29809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Which of the four tracks, and why your solution belongs there ]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7E2D1CF2-AED8-54B7-6619-64373925EB8B}"/>
              </a:ext>
            </a:extLst>
          </p:cNvPr>
          <p:cNvSpPr/>
          <p:nvPr/>
        </p:nvSpPr>
        <p:spPr>
          <a:xfrm>
            <a:off x="806208" y="36301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B048844D-B752-83F5-D554-1C9EDA30A683}"/>
              </a:ext>
            </a:extLst>
          </p:cNvPr>
          <p:cNvSpPr/>
          <p:nvPr/>
        </p:nvSpPr>
        <p:spPr>
          <a:xfrm>
            <a:off x="806208" y="384962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Individuals  /  Companies &amp; Institutions ]</a:t>
            </a:r>
            <a:endParaRPr lang="en-US" sz="12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1C13459B-4DF5-A919-9FB7-30394B614FCF}"/>
              </a:ext>
            </a:extLst>
          </p:cNvPr>
          <p:cNvSpPr/>
          <p:nvPr/>
        </p:nvSpPr>
        <p:spPr>
          <a:xfrm>
            <a:off x="806208" y="44988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stage</a:t>
            </a:r>
            <a:endParaRPr lang="en-US" sz="10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F8E5CD8A-65DB-BE31-F1A9-38F100562E4E}"/>
              </a:ext>
            </a:extLst>
          </p:cNvPr>
          <p:cNvSpPr/>
          <p:nvPr/>
        </p:nvSpPr>
        <p:spPr>
          <a:xfrm>
            <a:off x="806208" y="471830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Concept  ·  Working prototype  ·  Piloted with users  ·  In market ]</a:t>
            </a:r>
            <a:endParaRPr lang="en-US" sz="1200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3967BA21-FA7C-5658-E067-1BC840692C5A}"/>
              </a:ext>
            </a:extLst>
          </p:cNvPr>
          <p:cNvSpPr/>
          <p:nvPr/>
        </p:nvSpPr>
        <p:spPr>
          <a:xfrm>
            <a:off x="6210312" y="1280160"/>
            <a:ext cx="541324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102F608C-B783-86B7-BF21-1F368A1AEFEC}"/>
              </a:ext>
            </a:extLst>
          </p:cNvPr>
          <p:cNvSpPr/>
          <p:nvPr/>
        </p:nvSpPr>
        <p:spPr>
          <a:xfrm>
            <a:off x="6484632" y="15270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—  2 TO 5 MEMBERS</a:t>
            </a:r>
            <a:endParaRPr lang="en-US" sz="110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230B19C8-5950-894F-A64A-C4B88279E0DE}"/>
              </a:ext>
            </a:extLst>
          </p:cNvPr>
          <p:cNvSpPr/>
          <p:nvPr/>
        </p:nvSpPr>
        <p:spPr>
          <a:xfrm>
            <a:off x="6484632" y="1965960"/>
            <a:ext cx="384048" cy="384048"/>
          </a:xfrm>
          <a:prstGeom prst="ellipse">
            <a:avLst/>
          </a:prstGeom>
          <a:solidFill>
            <a:srgbClr val="0A3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3B6B573E-8794-7DA1-279F-EA919A3EDA35}"/>
              </a:ext>
            </a:extLst>
          </p:cNvPr>
          <p:cNvSpPr/>
          <p:nvPr/>
        </p:nvSpPr>
        <p:spPr>
          <a:xfrm>
            <a:off x="648463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6AFCD370-77A4-20A1-78A9-9E4B39650FB2}"/>
              </a:ext>
            </a:extLst>
          </p:cNvPr>
          <p:cNvSpPr/>
          <p:nvPr/>
        </p:nvSpPr>
        <p:spPr>
          <a:xfrm>
            <a:off x="6978408" y="189280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Full name ]</a:t>
            </a:r>
            <a:endParaRPr lang="en-US" sz="125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CEAFC576-4E9B-C7C4-743B-1D48C48D7428}"/>
              </a:ext>
            </a:extLst>
          </p:cNvPr>
          <p:cNvSpPr/>
          <p:nvPr/>
        </p:nvSpPr>
        <p:spPr>
          <a:xfrm>
            <a:off x="6978408" y="2130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on the team  ·  Discipline  ·  Relevant experience or affiliation ]</a:t>
            </a:r>
            <a:endParaRPr lang="en-US" sz="110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DF18098C-E2FF-7D6C-14C2-46795CD26E17}"/>
              </a:ext>
            </a:extLst>
          </p:cNvPr>
          <p:cNvSpPr/>
          <p:nvPr/>
        </p:nvSpPr>
        <p:spPr>
          <a:xfrm>
            <a:off x="6484632" y="2834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36CD3A74-2B39-D7F6-B9CC-39D08485B0A2}"/>
              </a:ext>
            </a:extLst>
          </p:cNvPr>
          <p:cNvSpPr/>
          <p:nvPr/>
        </p:nvSpPr>
        <p:spPr>
          <a:xfrm>
            <a:off x="6484632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42B6A072-7359-C018-70C5-DB2DA6874A21}"/>
              </a:ext>
            </a:extLst>
          </p:cNvPr>
          <p:cNvSpPr/>
          <p:nvPr/>
        </p:nvSpPr>
        <p:spPr>
          <a:xfrm>
            <a:off x="6978408" y="27614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Full name ]</a:t>
            </a:r>
            <a:endParaRPr lang="en-US" sz="125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2497A28F-37A9-6A90-47C4-9561A74A0DDD}"/>
              </a:ext>
            </a:extLst>
          </p:cNvPr>
          <p:cNvSpPr/>
          <p:nvPr/>
        </p:nvSpPr>
        <p:spPr>
          <a:xfrm>
            <a:off x="6978408" y="2999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on the team  ·  Discipline  ·  Relevant experience or affiliation ]</a:t>
            </a:r>
            <a:endParaRPr lang="en-US" sz="1100" dirty="0"/>
          </a:p>
        </p:txBody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C66B4D2D-E019-428D-F3E1-654691E90DB9}"/>
              </a:ext>
            </a:extLst>
          </p:cNvPr>
          <p:cNvSpPr/>
          <p:nvPr/>
        </p:nvSpPr>
        <p:spPr>
          <a:xfrm>
            <a:off x="6484632" y="3703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3B22D074-7AB7-9F84-4C96-E017EA637EDF}"/>
              </a:ext>
            </a:extLst>
          </p:cNvPr>
          <p:cNvSpPr/>
          <p:nvPr/>
        </p:nvSpPr>
        <p:spPr>
          <a:xfrm>
            <a:off x="648463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737A4B73-5012-6FB1-C719-CDF1C22DFC43}"/>
              </a:ext>
            </a:extLst>
          </p:cNvPr>
          <p:cNvSpPr/>
          <p:nvPr/>
        </p:nvSpPr>
        <p:spPr>
          <a:xfrm>
            <a:off x="6978408" y="36301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Full name ]</a:t>
            </a:r>
            <a:endParaRPr lang="en-US" sz="125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DA3638C5-A4E8-E968-7926-8A454279D47F}"/>
              </a:ext>
            </a:extLst>
          </p:cNvPr>
          <p:cNvSpPr/>
          <p:nvPr/>
        </p:nvSpPr>
        <p:spPr>
          <a:xfrm>
            <a:off x="6978408" y="3867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on the team  ·  Discipline  ·  Relevant experience or affiliation ]</a:t>
            </a:r>
            <a:endParaRPr lang="en-US" sz="1100" dirty="0"/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5554C1A6-837D-E5B5-5B50-E1A8321CC4E2}"/>
              </a:ext>
            </a:extLst>
          </p:cNvPr>
          <p:cNvSpPr/>
          <p:nvPr/>
        </p:nvSpPr>
        <p:spPr>
          <a:xfrm>
            <a:off x="6484632" y="45720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7BDDAC75-3600-E720-F5F8-A9AA3E7D8E3B}"/>
              </a:ext>
            </a:extLst>
          </p:cNvPr>
          <p:cNvSpPr/>
          <p:nvPr/>
        </p:nvSpPr>
        <p:spPr>
          <a:xfrm>
            <a:off x="6484632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2C004EE0-FA31-D633-2824-B8708475A1C3}"/>
              </a:ext>
            </a:extLst>
          </p:cNvPr>
          <p:cNvSpPr/>
          <p:nvPr/>
        </p:nvSpPr>
        <p:spPr>
          <a:xfrm>
            <a:off x="6978408" y="44988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Full name ]</a:t>
            </a:r>
            <a:endParaRPr lang="en-US" sz="125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DE560F23-0901-7BF2-1A7B-87720B7DC64B}"/>
              </a:ext>
            </a:extLst>
          </p:cNvPr>
          <p:cNvSpPr/>
          <p:nvPr/>
        </p:nvSpPr>
        <p:spPr>
          <a:xfrm>
            <a:off x="6978408" y="47365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on the team  ·  Discipline  ·  Relevant experience or affiliation ]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4441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27458-B5D7-B80B-8A2D-45A7BB04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4EDEAE-B819-932D-27F6-71D2EE654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9F38AF-70D8-559B-B298-52A3BA9759D2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dirty="0"/>
              <a:t>04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FF3091B-2515-7491-9BF9-83C11036CBC5}"/>
              </a:ext>
            </a:extLst>
          </p:cNvPr>
          <p:cNvSpPr/>
          <p:nvPr/>
        </p:nvSpPr>
        <p:spPr>
          <a:xfrm>
            <a:off x="531888" y="10972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IMPACT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37DCCD92-69F5-68A1-B4DC-6A80389B0262}"/>
              </a:ext>
            </a:extLst>
          </p:cNvPr>
          <p:cNvSpPr/>
          <p:nvPr/>
        </p:nvSpPr>
        <p:spPr>
          <a:xfrm>
            <a:off x="531888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22BC9F0-6D41-EB17-675A-3EFD8121C1B4}"/>
              </a:ext>
            </a:extLst>
          </p:cNvPr>
          <p:cNvSpPr/>
          <p:nvPr/>
        </p:nvSpPr>
        <p:spPr>
          <a:xfrm>
            <a:off x="9337560" y="950976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0825FC0-5D4B-0B1D-66EA-8CCC92BCB797}"/>
              </a:ext>
            </a:extLst>
          </p:cNvPr>
          <p:cNvSpPr/>
          <p:nvPr/>
        </p:nvSpPr>
        <p:spPr>
          <a:xfrm>
            <a:off x="9337560" y="9281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SCORE</a:t>
            </a:r>
            <a:endParaRPr lang="en-US" sz="11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744E3ED1-2567-C67D-35E8-239CB821997F}"/>
              </a:ext>
            </a:extLst>
          </p:cNvPr>
          <p:cNvSpPr/>
          <p:nvPr/>
        </p:nvSpPr>
        <p:spPr>
          <a:xfrm>
            <a:off x="422558" y="208026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48153C50-EB40-1DE6-D641-69314092C99D}"/>
              </a:ext>
            </a:extLst>
          </p:cNvPr>
          <p:cNvSpPr/>
          <p:nvPr/>
        </p:nvSpPr>
        <p:spPr>
          <a:xfrm>
            <a:off x="806208" y="2367799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C3C95DEC-BFB8-7390-F00B-3E20A4456D86}"/>
              </a:ext>
            </a:extLst>
          </p:cNvPr>
          <p:cNvSpPr/>
          <p:nvPr/>
        </p:nvSpPr>
        <p:spPr>
          <a:xfrm>
            <a:off x="806208" y="2660407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 one paragraph: who is affected, what they cannot do today, why existing options fail them, and what it costs them — in independence, time, money, safety or dignity. Be specific to Saudi Arabia and to a defined disability group. Avoid describing disability in general. ]</a:t>
            </a:r>
            <a:endParaRPr lang="en-US" sz="13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FDA83956-E901-4DC5-6878-2E48094AA5C5}"/>
              </a:ext>
            </a:extLst>
          </p:cNvPr>
          <p:cNvSpPr/>
          <p:nvPr/>
        </p:nvSpPr>
        <p:spPr>
          <a:xfrm>
            <a:off x="531888" y="605332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 number: [ Source, publisher, year </a:t>
            </a:r>
            <a:r>
              <a:rPr lang="en-US" sz="1000" dirty="0" smtClean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]..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2117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77AB5-5C1B-1397-16CC-72B7A1E89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E674AA-84FC-9806-F6C1-D982C30678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378F46-059B-FEC0-C2D8-DDCA0D57B32F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dirty="0"/>
              <a:t>05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90845037-FBC4-CCED-C99D-1254DD50B8E3}"/>
              </a:ext>
            </a:extLst>
          </p:cNvPr>
          <p:cNvSpPr/>
          <p:nvPr/>
        </p:nvSpPr>
        <p:spPr>
          <a:xfrm>
            <a:off x="531888" y="1645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IMPACT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FED00E4-5FE7-F6DC-777A-ACA382DE0093}"/>
              </a:ext>
            </a:extLst>
          </p:cNvPr>
          <p:cNvSpPr/>
          <p:nvPr/>
        </p:nvSpPr>
        <p:spPr>
          <a:xfrm>
            <a:off x="531888" y="43891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serve</a:t>
            </a:r>
            <a:endParaRPr lang="en-US" sz="30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B330AD77-53E1-BCE3-54C7-A0134E8CCFD1}"/>
              </a:ext>
            </a:extLst>
          </p:cNvPr>
          <p:cNvSpPr/>
          <p:nvPr/>
        </p:nvSpPr>
        <p:spPr>
          <a:xfrm>
            <a:off x="531888" y="1380744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D078140-F8C7-D562-2DBE-01E3C031D548}"/>
              </a:ext>
            </a:extLst>
          </p:cNvPr>
          <p:cNvSpPr/>
          <p:nvPr/>
        </p:nvSpPr>
        <p:spPr>
          <a:xfrm>
            <a:off x="806208" y="1627632"/>
            <a:ext cx="502920" cy="502920"/>
          </a:xfrm>
          <a:prstGeom prst="ellipse">
            <a:avLst/>
          </a:prstGeom>
          <a:solidFill>
            <a:srgbClr val="0A3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A4152DD-4FC1-C3E2-DA4C-8D102AC4AF9B}"/>
              </a:ext>
            </a:extLst>
          </p:cNvPr>
          <p:cNvSpPr/>
          <p:nvPr/>
        </p:nvSpPr>
        <p:spPr>
          <a:xfrm>
            <a:off x="806208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4B8B9A54-4729-61E8-992F-5697BC84EE6B}"/>
              </a:ext>
            </a:extLst>
          </p:cNvPr>
          <p:cNvSpPr/>
          <p:nvPr/>
        </p:nvSpPr>
        <p:spPr>
          <a:xfrm>
            <a:off x="1428000" y="1746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</a:t>
            </a:r>
            <a:endParaRPr lang="en-US" sz="11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A1A74CD6-8F13-6885-C788-C17F00910E6A}"/>
              </a:ext>
            </a:extLst>
          </p:cNvPr>
          <p:cNvSpPr/>
          <p:nvPr/>
        </p:nvSpPr>
        <p:spPr>
          <a:xfrm>
            <a:off x="806208" y="26609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&amp; context</a:t>
            </a:r>
            <a:endParaRPr lang="en-US" sz="10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B3029C1-9F11-D39D-F438-5D07BB8D9203}"/>
              </a:ext>
            </a:extLst>
          </p:cNvPr>
          <p:cNvSpPr/>
          <p:nvPr/>
        </p:nvSpPr>
        <p:spPr>
          <a:xfrm>
            <a:off x="806208" y="28803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2, hearing impairment, living at home with ongoing audiology and speech-language care.</a:t>
            </a:r>
            <a:endParaRPr lang="en-US" sz="11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7D7F60D2-124E-7EF4-92B9-3525AC3D4514}"/>
              </a:ext>
            </a:extLst>
          </p:cNvPr>
          <p:cNvSpPr/>
          <p:nvPr/>
        </p:nvSpPr>
        <p:spPr>
          <a:xfrm>
            <a:off x="806208" y="3593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today</a:t>
            </a:r>
            <a:endParaRPr lang="en-US" sz="10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404D1EB8-39B1-F03D-549A-7EA7C7C3BFB4}"/>
              </a:ext>
            </a:extLst>
          </p:cNvPr>
          <p:cNvSpPr/>
          <p:nvPr/>
        </p:nvSpPr>
        <p:spPr>
          <a:xfrm>
            <a:off x="806208" y="38130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family repeats the same updates to each specialist and pieces together what changed since the last visit.</a:t>
            </a:r>
            <a:endParaRPr lang="en-US" sz="11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DF32A1A7-507D-701E-A7A0-2F71072BD8A8}"/>
              </a:ext>
            </a:extLst>
          </p:cNvPr>
          <p:cNvSpPr/>
          <p:nvPr/>
        </p:nvSpPr>
        <p:spPr>
          <a:xfrm>
            <a:off x="806208" y="45262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feels like</a:t>
            </a:r>
            <a:endParaRPr lang="en-US" sz="10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E409E4DB-98CF-D5BD-50C8-1F405DDA4AED}"/>
              </a:ext>
            </a:extLst>
          </p:cNvPr>
          <p:cNvSpPr/>
          <p:nvPr/>
        </p:nvSpPr>
        <p:spPr>
          <a:xfrm>
            <a:off x="806208" y="474573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view of Lama's progress, so the family stops re-explaining her history at every appointment.</a:t>
            </a:r>
            <a:endParaRPr lang="en-US" sz="110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3C0E7189-3CF9-779F-DEA7-46B41C3C4466}"/>
              </a:ext>
            </a:extLst>
          </p:cNvPr>
          <p:cNvSpPr/>
          <p:nvPr/>
        </p:nvSpPr>
        <p:spPr>
          <a:xfrm>
            <a:off x="4966728" y="1380744"/>
            <a:ext cx="2121408" cy="25146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D4CE60CD-691B-8969-64BD-6919F46BF048}"/>
              </a:ext>
            </a:extLst>
          </p:cNvPr>
          <p:cNvSpPr/>
          <p:nvPr/>
        </p:nvSpPr>
        <p:spPr>
          <a:xfrm>
            <a:off x="5167896" y="15910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</a:t>
            </a:r>
            <a:endParaRPr lang="en-US" sz="15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197F9B42-BB2C-B9CD-B592-65BDC081261D}"/>
              </a:ext>
            </a:extLst>
          </p:cNvPr>
          <p:cNvSpPr/>
          <p:nvPr/>
        </p:nvSpPr>
        <p:spPr>
          <a:xfrm>
            <a:off x="5167896" y="1956816"/>
            <a:ext cx="1755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Communication support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Regular hearing follow-up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Coordinated scheduling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One shared care record</a:t>
            </a:r>
          </a:p>
          <a:p>
            <a:endParaRPr lang="en-US" sz="1050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A12B33AC-8D78-0278-F7D0-4E1B445916F5}"/>
              </a:ext>
            </a:extLst>
          </p:cNvPr>
          <p:cNvSpPr/>
          <p:nvPr/>
        </p:nvSpPr>
        <p:spPr>
          <a:xfrm>
            <a:off x="7197864" y="1380744"/>
            <a:ext cx="2121408" cy="25146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A4392C42-4F3D-C791-0D5B-7A51D4385F37}"/>
              </a:ext>
            </a:extLst>
          </p:cNvPr>
          <p:cNvSpPr/>
          <p:nvPr/>
        </p:nvSpPr>
        <p:spPr>
          <a:xfrm>
            <a:off x="7399032" y="15910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Barriers</a:t>
            </a:r>
            <a:endParaRPr lang="en-US" sz="15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591E08E2-CA8B-1061-BFAC-34EA8D53D50C}"/>
              </a:ext>
            </a:extLst>
          </p:cNvPr>
          <p:cNvSpPr/>
          <p:nvPr/>
        </p:nvSpPr>
        <p:spPr>
          <a:xfrm>
            <a:off x="7399032" y="1956816"/>
            <a:ext cx="1755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don't share a system, classrooms are noisy, and repeating context to each new provider costs time.</a:t>
            </a:r>
            <a:endParaRPr lang="en-US" sz="105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9CD90B07-757F-BD20-FFD2-9CBEB47212C0}"/>
              </a:ext>
            </a:extLst>
          </p:cNvPr>
          <p:cNvSpPr/>
          <p:nvPr/>
        </p:nvSpPr>
        <p:spPr>
          <a:xfrm>
            <a:off x="9429000" y="1380744"/>
            <a:ext cx="2121408" cy="25146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42221454-0785-03FA-6546-FFAB66C9EAA1}"/>
              </a:ext>
            </a:extLst>
          </p:cNvPr>
          <p:cNvSpPr/>
          <p:nvPr/>
        </p:nvSpPr>
        <p:spPr>
          <a:xfrm>
            <a:off x="9630168" y="15910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</a:t>
            </a:r>
            <a:endParaRPr lang="en-US" sz="15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9E520C9D-1778-59FF-64EA-8FEA81A505E4}"/>
              </a:ext>
            </a:extLst>
          </p:cNvPr>
          <p:cNvSpPr/>
          <p:nvPr/>
        </p:nvSpPr>
        <p:spPr>
          <a:xfrm>
            <a:off x="9630168" y="1956816"/>
            <a:ext cx="1755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chat groups, paper folders, memory — each breaks differently, and only the guardian holds the full picture.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103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87C9C-25C0-0138-8DD2-E19FAD379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63372D-CF92-1DD8-81A9-C6730F0A0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FDDAA4-A3AE-3E33-B120-5D59778F45C9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dirty="0"/>
              <a:t>06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8682B19-C36E-98DE-3855-4F1795BC37D3}"/>
              </a:ext>
            </a:extLst>
          </p:cNvPr>
          <p:cNvSpPr/>
          <p:nvPr/>
        </p:nvSpPr>
        <p:spPr>
          <a:xfrm>
            <a:off x="531888" y="1280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INNOVATION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52B00CF-F047-2D4E-8CD1-71175A5695AD}"/>
              </a:ext>
            </a:extLst>
          </p:cNvPr>
          <p:cNvSpPr/>
          <p:nvPr/>
        </p:nvSpPr>
        <p:spPr>
          <a:xfrm>
            <a:off x="531888" y="402336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0732293-2391-14E2-9219-AE394AB4D1DF}"/>
              </a:ext>
            </a:extLst>
          </p:cNvPr>
          <p:cNvSpPr/>
          <p:nvPr/>
        </p:nvSpPr>
        <p:spPr>
          <a:xfrm>
            <a:off x="9172968" y="96926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027EECF0-C921-59B4-164C-072FCFA4BBF6}"/>
              </a:ext>
            </a:extLst>
          </p:cNvPr>
          <p:cNvSpPr/>
          <p:nvPr/>
        </p:nvSpPr>
        <p:spPr>
          <a:xfrm>
            <a:off x="9163824" y="9464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SCORE</a:t>
            </a:r>
            <a:endParaRPr lang="en-US" sz="11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055003E2-7F5C-D09A-D209-57AD9C6FBE81}"/>
              </a:ext>
            </a:extLst>
          </p:cNvPr>
          <p:cNvSpPr/>
          <p:nvPr/>
        </p:nvSpPr>
        <p:spPr>
          <a:xfrm>
            <a:off x="531888" y="1344168"/>
            <a:ext cx="58521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FC1EBC6-575A-27C6-52BD-53116EE1F376}"/>
              </a:ext>
            </a:extLst>
          </p:cNvPr>
          <p:cNvSpPr/>
          <p:nvPr/>
        </p:nvSpPr>
        <p:spPr>
          <a:xfrm>
            <a:off x="806208" y="15727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WHAT IT DOES</a:t>
            </a:r>
            <a:endParaRPr lang="en-US" sz="11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D560DDF-AC0A-1272-9972-496B92469984}"/>
              </a:ext>
            </a:extLst>
          </p:cNvPr>
          <p:cNvSpPr/>
          <p:nvPr/>
        </p:nvSpPr>
        <p:spPr>
          <a:xfrm>
            <a:off x="806208" y="184708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Weam brings a child's reports, specialists, goals, and follow-ups into one permission-controlled record. Guardians decide exactly who can see or add what, and every AI-assisted step stays a reviewable draft until a human approves it.</a:t>
            </a:r>
            <a:endParaRPr lang="en-US" sz="130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97D080A3-6C83-33ED-7A14-89EDDCE21C0A}"/>
              </a:ext>
            </a:extLst>
          </p:cNvPr>
          <p:cNvSpPr/>
          <p:nvPr/>
        </p:nvSpPr>
        <p:spPr>
          <a:xfrm>
            <a:off x="806208" y="2807208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6C6B938C-C0D1-EB22-48E5-686D360A52ED}"/>
              </a:ext>
            </a:extLst>
          </p:cNvPr>
          <p:cNvSpPr/>
          <p:nvPr/>
        </p:nvSpPr>
        <p:spPr>
          <a:xfrm>
            <a:off x="806208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6D8EBE7-637B-AB8D-E3FB-E0353D1CB6C1}"/>
              </a:ext>
            </a:extLst>
          </p:cNvPr>
          <p:cNvSpPr/>
          <p:nvPr/>
        </p:nvSpPr>
        <p:spPr>
          <a:xfrm>
            <a:off x="1263408" y="27614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care record</a:t>
            </a:r>
            <a:endParaRPr lang="en-US" sz="13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E66C2A6B-A1FA-8F04-A30E-18FDDB5AA33D}"/>
              </a:ext>
            </a:extLst>
          </p:cNvPr>
          <p:cNvSpPr/>
          <p:nvPr/>
        </p:nvSpPr>
        <p:spPr>
          <a:xfrm>
            <a:off x="1263408" y="2999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reports, goals, and follow-ups — replaces scattered updates with a shared view.</a:t>
            </a:r>
            <a:endParaRPr lang="en-US" sz="11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69989A97-5E8C-98B8-1747-6FF839B59F65}"/>
              </a:ext>
            </a:extLst>
          </p:cNvPr>
          <p:cNvSpPr/>
          <p:nvPr/>
        </p:nvSpPr>
        <p:spPr>
          <a:xfrm>
            <a:off x="806208" y="3721608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F1412732-DA83-8E33-AD81-4FF24A913551}"/>
              </a:ext>
            </a:extLst>
          </p:cNvPr>
          <p:cNvSpPr/>
          <p:nvPr/>
        </p:nvSpPr>
        <p:spPr>
          <a:xfrm>
            <a:off x="806208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EF658299-89FD-44C8-60A2-D1EABB0B1E4E}"/>
              </a:ext>
            </a:extLst>
          </p:cNvPr>
          <p:cNvSpPr/>
          <p:nvPr/>
        </p:nvSpPr>
        <p:spPr>
          <a:xfrm>
            <a:off x="1263408" y="36758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Guardian-controlled access</a:t>
            </a:r>
            <a:endParaRPr lang="en-US" sz="13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8FCC0C74-5DEE-93CF-A164-8490FF1483D1}"/>
              </a:ext>
            </a:extLst>
          </p:cNvPr>
          <p:cNvSpPr/>
          <p:nvPr/>
        </p:nvSpPr>
        <p:spPr>
          <a:xfrm>
            <a:off x="1263408" y="3913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Per-person, per-child permissions with expiry and revocation — the family stays in control.</a:t>
            </a:r>
            <a:endParaRPr lang="en-US" sz="1100" dirty="0"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3A036DDA-8D52-A4A3-2402-46812871B63A}"/>
              </a:ext>
            </a:extLst>
          </p:cNvPr>
          <p:cNvSpPr/>
          <p:nvPr/>
        </p:nvSpPr>
        <p:spPr>
          <a:xfrm>
            <a:off x="806208" y="4636008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F122BF15-B3A1-A1F6-FE7A-145B134C4A80}"/>
              </a:ext>
            </a:extLst>
          </p:cNvPr>
          <p:cNvSpPr/>
          <p:nvPr/>
        </p:nvSpPr>
        <p:spPr>
          <a:xfrm>
            <a:off x="806208" y="4636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638A11B6-060E-BE30-772D-87E0012CAF66}"/>
              </a:ext>
            </a:extLst>
          </p:cNvPr>
          <p:cNvSpPr/>
          <p:nvPr/>
        </p:nvSpPr>
        <p:spPr>
          <a:xfrm>
            <a:off x="1263408" y="45902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assistance</a:t>
            </a:r>
            <a:endParaRPr lang="en-US" sz="13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E5F79C92-4A14-6813-84A8-C18DA02D7D0D}"/>
              </a:ext>
            </a:extLst>
          </p:cNvPr>
          <p:cNvSpPr/>
          <p:nvPr/>
        </p:nvSpPr>
        <p:spPr>
          <a:xfrm>
            <a:off x="1263408" y="48280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summaries, grounded answers, and reasoned matches — always reviewable, never a diagnosis.</a:t>
            </a:r>
            <a:endParaRPr lang="en-US" sz="110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ED833950-E9FF-1ECE-BBE6-87CC302F86A7}"/>
              </a:ext>
            </a:extLst>
          </p:cNvPr>
          <p:cNvSpPr/>
          <p:nvPr/>
        </p:nvSpPr>
        <p:spPr>
          <a:xfrm>
            <a:off x="6704088" y="1344168"/>
            <a:ext cx="4919472" cy="4297680"/>
          </a:xfrm>
          <a:prstGeom prst="roundRect">
            <a:avLst>
              <a:gd name="adj" fmla="val 2128"/>
            </a:avLst>
          </a:prstGeom>
          <a:solidFill>
            <a:srgbClr val="E7F0EF"/>
          </a:solidFill>
          <a:ln w="1905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4DDBE583-2D1C-40E4-9B32-BB0AC1E133FF}"/>
              </a:ext>
            </a:extLst>
          </p:cNvPr>
          <p:cNvSpPr/>
          <p:nvPr/>
        </p:nvSpPr>
        <p:spPr>
          <a:xfrm>
            <a:off x="8779776" y="2990088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0426E5DF-5A29-AB31-E380-7233E15F66DC}"/>
              </a:ext>
            </a:extLst>
          </p:cNvPr>
          <p:cNvSpPr/>
          <p:nvPr/>
        </p:nvSpPr>
        <p:spPr>
          <a:xfrm>
            <a:off x="8779776" y="2990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DEE38325-703B-A360-8110-382AEF6E5825}"/>
              </a:ext>
            </a:extLst>
          </p:cNvPr>
          <p:cNvSpPr/>
          <p:nvPr/>
        </p:nvSpPr>
        <p:spPr>
          <a:xfrm>
            <a:off x="6932688" y="3904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product screenshot</a:t>
            </a:r>
            <a:endParaRPr lang="en-US" sz="15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5A5A33B7-4702-BD05-E4CC-FB9D9B291E5A}"/>
              </a:ext>
            </a:extLst>
          </p:cNvPr>
          <p:cNvSpPr/>
          <p:nvPr/>
        </p:nvSpPr>
        <p:spPr>
          <a:xfrm>
            <a:off x="6932688" y="42428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Screenshot, render, or photo of the </a:t>
            </a:r>
            <a:r>
              <a:rPr lang="en-US" sz="1100" dirty="0" smtClean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device. </a:t>
            </a:r>
            <a:r>
              <a:rPr lang="en-US" sz="1100" dirty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alternative text to the image.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8119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57B3-40FF-DA93-37C5-21A83A09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49D6A3-8EB0-7394-A051-2BDA851ED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78CE6A-EF00-A57D-A051-2A3041608733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dirty="0"/>
              <a:t>07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8B61E2B8-FC5F-202B-DDA7-B3273F5C7E0C}"/>
              </a:ext>
            </a:extLst>
          </p:cNvPr>
          <p:cNvSpPr/>
          <p:nvPr/>
        </p:nvSpPr>
        <p:spPr>
          <a:xfrm>
            <a:off x="531888" y="10972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INNOVATION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235010E-D9CF-C101-2C70-A359C3331A7B}"/>
              </a:ext>
            </a:extLst>
          </p:cNvPr>
          <p:cNvSpPr/>
          <p:nvPr/>
        </p:nvSpPr>
        <p:spPr>
          <a:xfrm>
            <a:off x="531888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08770D7A-6504-2F8E-E924-05B97BA5FCC0}"/>
              </a:ext>
            </a:extLst>
          </p:cNvPr>
          <p:cNvSpPr/>
          <p:nvPr/>
        </p:nvSpPr>
        <p:spPr>
          <a:xfrm>
            <a:off x="568464" y="1371600"/>
            <a:ext cx="1947672" cy="214884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1B0152E0-014B-D530-6E87-315AD2997E23}"/>
              </a:ext>
            </a:extLst>
          </p:cNvPr>
          <p:cNvSpPr/>
          <p:nvPr/>
        </p:nvSpPr>
        <p:spPr>
          <a:xfrm>
            <a:off x="733056" y="157276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737F5FCA-47C5-B0C1-DE3D-F85228AFCBB0}"/>
              </a:ext>
            </a:extLst>
          </p:cNvPr>
          <p:cNvSpPr/>
          <p:nvPr/>
        </p:nvSpPr>
        <p:spPr>
          <a:xfrm>
            <a:off x="733056" y="1572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7BA348C-90F0-36A5-30F1-5C7C41A223F3}"/>
              </a:ext>
            </a:extLst>
          </p:cNvPr>
          <p:cNvSpPr/>
          <p:nvPr/>
        </p:nvSpPr>
        <p:spPr>
          <a:xfrm>
            <a:off x="733056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708F67D3-41F9-2BC9-0B54-43405B15DC6D}"/>
              </a:ext>
            </a:extLst>
          </p:cNvPr>
          <p:cNvSpPr/>
          <p:nvPr/>
        </p:nvSpPr>
        <p:spPr>
          <a:xfrm>
            <a:off x="733056" y="2249424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report (PDF/image), typed note, or voice recording — tied to one authorized child record</a:t>
            </a:r>
            <a:endParaRPr lang="en-US" sz="10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88901552-1F05-3F9D-6CFC-C766E689A7E4}"/>
              </a:ext>
            </a:extLst>
          </p:cNvPr>
          <p:cNvSpPr/>
          <p:nvPr/>
        </p:nvSpPr>
        <p:spPr>
          <a:xfrm>
            <a:off x="2516136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0B94E97D-6F66-F43B-10F2-742D17775A8E}"/>
              </a:ext>
            </a:extLst>
          </p:cNvPr>
          <p:cNvSpPr/>
          <p:nvPr/>
        </p:nvSpPr>
        <p:spPr>
          <a:xfrm>
            <a:off x="2836176" y="1371600"/>
            <a:ext cx="1947672" cy="214884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1BD01A5-137E-463D-93C5-EA7432E3867E}"/>
              </a:ext>
            </a:extLst>
          </p:cNvPr>
          <p:cNvSpPr/>
          <p:nvPr/>
        </p:nvSpPr>
        <p:spPr>
          <a:xfrm>
            <a:off x="3000768" y="157276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A3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99618CA2-2CD2-1971-DCD2-2F1C6658ECCB}"/>
              </a:ext>
            </a:extLst>
          </p:cNvPr>
          <p:cNvSpPr/>
          <p:nvPr/>
        </p:nvSpPr>
        <p:spPr>
          <a:xfrm>
            <a:off x="3000768" y="1572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5AFC06FC-AB00-162F-C1F7-2DEA5566126A}"/>
              </a:ext>
            </a:extLst>
          </p:cNvPr>
          <p:cNvSpPr/>
          <p:nvPr/>
        </p:nvSpPr>
        <p:spPr>
          <a:xfrm>
            <a:off x="3000768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CORE</a:t>
            </a:r>
            <a:endParaRPr lang="en-US" sz="13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702F3B00-DFF1-02C8-865A-1B988C3CA3CF}"/>
              </a:ext>
            </a:extLst>
          </p:cNvPr>
          <p:cNvSpPr/>
          <p:nvPr/>
        </p:nvSpPr>
        <p:spPr>
          <a:xfrm>
            <a:off x="3000768" y="2249424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language model for summarization and grounded Q&amp;A, with a deterministic local fallback</a:t>
            </a:r>
            <a:endParaRPr lang="en-US" sz="10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DB8BCBD6-AF20-307E-06F3-C159280D1693}"/>
              </a:ext>
            </a:extLst>
          </p:cNvPr>
          <p:cNvSpPr/>
          <p:nvPr/>
        </p:nvSpPr>
        <p:spPr>
          <a:xfrm>
            <a:off x="4783848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E7806B6A-F9C9-3694-E3DC-4E38E63ACFC4}"/>
              </a:ext>
            </a:extLst>
          </p:cNvPr>
          <p:cNvSpPr/>
          <p:nvPr/>
        </p:nvSpPr>
        <p:spPr>
          <a:xfrm>
            <a:off x="5103888" y="1371600"/>
            <a:ext cx="1947672" cy="214884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8E757FE6-2210-2B2C-8EA9-363C4DE4FBAE}"/>
              </a:ext>
            </a:extLst>
          </p:cNvPr>
          <p:cNvSpPr/>
          <p:nvPr/>
        </p:nvSpPr>
        <p:spPr>
          <a:xfrm>
            <a:off x="5268480" y="157276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C9057C67-142E-0FDA-1C4B-877E05C3282F}"/>
              </a:ext>
            </a:extLst>
          </p:cNvPr>
          <p:cNvSpPr/>
          <p:nvPr/>
        </p:nvSpPr>
        <p:spPr>
          <a:xfrm>
            <a:off x="5268480" y="1572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3A33B427-4A1E-65E7-CC1A-E1D997D41B12}"/>
              </a:ext>
            </a:extLst>
          </p:cNvPr>
          <p:cNvSpPr/>
          <p:nvPr/>
        </p:nvSpPr>
        <p:spPr>
          <a:xfrm>
            <a:off x="5268480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94552857-5544-406D-4FAC-731A1898773A}"/>
              </a:ext>
            </a:extLst>
          </p:cNvPr>
          <p:cNvSpPr/>
          <p:nvPr/>
        </p:nvSpPr>
        <p:spPr>
          <a:xfrm>
            <a:off x="5268480" y="2249424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Access-filtered first — only sources the requesting user is authorized to see are ever assembled, in Arabic</a:t>
            </a:r>
            <a:endParaRPr lang="en-US" sz="10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80A6D664-065E-3892-560A-B3CCED0B05F3}"/>
              </a:ext>
            </a:extLst>
          </p:cNvPr>
          <p:cNvSpPr/>
          <p:nvPr/>
        </p:nvSpPr>
        <p:spPr>
          <a:xfrm>
            <a:off x="7051560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969AF126-11BB-BE0A-9CE5-34FE3B90ED37}"/>
              </a:ext>
            </a:extLst>
          </p:cNvPr>
          <p:cNvSpPr/>
          <p:nvPr/>
        </p:nvSpPr>
        <p:spPr>
          <a:xfrm>
            <a:off x="7371600" y="1371600"/>
            <a:ext cx="1947672" cy="214884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4D279131-8095-F875-2E2A-16C7E1EB23C2}"/>
              </a:ext>
            </a:extLst>
          </p:cNvPr>
          <p:cNvSpPr/>
          <p:nvPr/>
        </p:nvSpPr>
        <p:spPr>
          <a:xfrm>
            <a:off x="7536192" y="157276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03D1109B-D9EA-FB47-D5FD-1CED524B7791}"/>
              </a:ext>
            </a:extLst>
          </p:cNvPr>
          <p:cNvSpPr/>
          <p:nvPr/>
        </p:nvSpPr>
        <p:spPr>
          <a:xfrm>
            <a:off x="7536192" y="1572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DD355250-232C-87F8-74ED-185D6B93FFF6}"/>
              </a:ext>
            </a:extLst>
          </p:cNvPr>
          <p:cNvSpPr/>
          <p:nvPr/>
        </p:nvSpPr>
        <p:spPr>
          <a:xfrm>
            <a:off x="7536192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6D1BBF24-5BB2-724A-8A62-A98795BD668B}"/>
              </a:ext>
            </a:extLst>
          </p:cNvPr>
          <p:cNvSpPr/>
          <p:nvPr/>
        </p:nvSpPr>
        <p:spPr>
          <a:xfrm>
            <a:off x="7536192" y="2249424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labeled draft — summary, answer, or match reasons — never written to the record automatically</a:t>
            </a:r>
            <a:endParaRPr lang="en-US" sz="100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E46EB29D-A8FC-8BD3-25C7-68001D697F82}"/>
              </a:ext>
            </a:extLst>
          </p:cNvPr>
          <p:cNvSpPr/>
          <p:nvPr/>
        </p:nvSpPr>
        <p:spPr>
          <a:xfrm>
            <a:off x="9319272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0ADF336B-EEFE-CBD1-6C40-98EFD05C12BF}"/>
              </a:ext>
            </a:extLst>
          </p:cNvPr>
          <p:cNvSpPr/>
          <p:nvPr/>
        </p:nvSpPr>
        <p:spPr>
          <a:xfrm>
            <a:off x="9639312" y="1371600"/>
            <a:ext cx="1947672" cy="214884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A2188A4E-A90E-BC73-6302-F0C1D2F58922}"/>
              </a:ext>
            </a:extLst>
          </p:cNvPr>
          <p:cNvSpPr/>
          <p:nvPr/>
        </p:nvSpPr>
        <p:spPr>
          <a:xfrm>
            <a:off x="9803904" y="157276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85AE2BD4-D519-20C6-B432-337A81D578D9}"/>
              </a:ext>
            </a:extLst>
          </p:cNvPr>
          <p:cNvSpPr/>
          <p:nvPr/>
        </p:nvSpPr>
        <p:spPr>
          <a:xfrm>
            <a:off x="9803904" y="1572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C1B910EB-A165-05D0-EAD4-C947135EFFB0}"/>
              </a:ext>
            </a:extLst>
          </p:cNvPr>
          <p:cNvSpPr/>
          <p:nvPr/>
        </p:nvSpPr>
        <p:spPr>
          <a:xfrm>
            <a:off x="9803904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00" dirty="0"/>
          </a:p>
        </p:txBody>
      </p:sp>
      <p:sp>
        <p:nvSpPr>
          <p:cNvPr id="66" name="Text 30">
            <a:extLst>
              <a:ext uri="{FF2B5EF4-FFF2-40B4-BE49-F238E27FC236}">
                <a16:creationId xmlns:a16="http://schemas.microsoft.com/office/drawing/2014/main" id="{F280F0FC-1F03-C068-8A53-3AACB97943E0}"/>
              </a:ext>
            </a:extLst>
          </p:cNvPr>
          <p:cNvSpPr/>
          <p:nvPr/>
        </p:nvSpPr>
        <p:spPr>
          <a:xfrm>
            <a:off x="9803904" y="2249424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guardian or authorized specialist reviews and approves before anything joins the care record</a:t>
            </a:r>
            <a:endParaRPr lang="en-US" sz="1000" dirty="0"/>
          </a:p>
        </p:txBody>
      </p:sp>
      <p:sp>
        <p:nvSpPr>
          <p:cNvPr id="86" name="Text 40">
            <a:extLst>
              <a:ext uri="{FF2B5EF4-FFF2-40B4-BE49-F238E27FC236}">
                <a16:creationId xmlns:a16="http://schemas.microsoft.com/office/drawing/2014/main" id="{1454499D-B538-22FA-685A-292B2EA5E490}"/>
              </a:ext>
            </a:extLst>
          </p:cNvPr>
          <p:cNvSpPr/>
          <p:nvPr/>
        </p:nvSpPr>
        <p:spPr>
          <a:xfrm>
            <a:off x="233714" y="588516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access control and ranking logic never depend on the AI step — only summaries and explanations do.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02974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AC781-A672-8B02-2FC6-A924797C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A99813-1283-AB88-915D-4D4950B08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37BA5F-1F16-9FEE-53C7-5A8C7EDEE320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dirty="0"/>
              <a:t>08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0D2D15AD-D487-8DA9-1210-B21D464C4A96}"/>
              </a:ext>
            </a:extLst>
          </p:cNvPr>
          <p:cNvSpPr/>
          <p:nvPr/>
        </p:nvSpPr>
        <p:spPr>
          <a:xfrm>
            <a:off x="429768" y="1280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INNOVATION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17620AB-E05B-1077-791A-6051D27DEF7B}"/>
              </a:ext>
            </a:extLst>
          </p:cNvPr>
          <p:cNvSpPr/>
          <p:nvPr/>
        </p:nvSpPr>
        <p:spPr>
          <a:xfrm>
            <a:off x="429768" y="402336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30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26C8C285-E4E2-D98B-9E08-924CF19A8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524888"/>
              </p:ext>
            </p:extLst>
          </p:nvPr>
        </p:nvGraphicFramePr>
        <p:xfrm>
          <a:off x="429768" y="1371600"/>
          <a:ext cx="6949440" cy="37307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Alternative A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54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Alternative B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5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3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Your answer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...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...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3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 for the 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Your answer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...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...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3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 &amp; local context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Your answer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...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...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3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to the 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Your answer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...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...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3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in KSA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Your answer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...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8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...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2">
            <a:extLst>
              <a:ext uri="{FF2B5EF4-FFF2-40B4-BE49-F238E27FC236}">
                <a16:creationId xmlns:a16="http://schemas.microsoft.com/office/drawing/2014/main" id="{75617C61-1557-1833-7803-2F83133AFFA0}"/>
              </a:ext>
            </a:extLst>
          </p:cNvPr>
          <p:cNvSpPr/>
          <p:nvPr/>
        </p:nvSpPr>
        <p:spPr>
          <a:xfrm>
            <a:off x="7607808" y="1371600"/>
            <a:ext cx="3913632" cy="3995530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CA577EB-AAD7-B572-39C5-8497F790CFA7}"/>
              </a:ext>
            </a:extLst>
          </p:cNvPr>
          <p:cNvSpPr/>
          <p:nvPr/>
        </p:nvSpPr>
        <p:spPr>
          <a:xfrm>
            <a:off x="7854696" y="15910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THREE CLAIMS</a:t>
            </a:r>
            <a:endParaRPr lang="en-US" sz="11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48CCDBA1-9575-C280-B2EE-4F57A333C686}"/>
              </a:ext>
            </a:extLst>
          </p:cNvPr>
          <p:cNvSpPr/>
          <p:nvPr/>
        </p:nvSpPr>
        <p:spPr>
          <a:xfrm>
            <a:off x="7854696" y="1975104"/>
            <a:ext cx="310896" cy="310896"/>
          </a:xfrm>
          <a:prstGeom prst="ellipse">
            <a:avLst/>
          </a:prstGeom>
          <a:solidFill>
            <a:srgbClr val="E9A1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258C2075-1252-6949-621F-792C2EAA3946}"/>
              </a:ext>
            </a:extLst>
          </p:cNvPr>
          <p:cNvSpPr/>
          <p:nvPr/>
        </p:nvSpPr>
        <p:spPr>
          <a:xfrm>
            <a:off x="7854696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2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AE76B7F-5015-371F-FC72-58778A97401A}"/>
              </a:ext>
            </a:extLst>
          </p:cNvPr>
          <p:cNvSpPr/>
          <p:nvPr/>
        </p:nvSpPr>
        <p:spPr>
          <a:xfrm>
            <a:off x="8275320" y="195681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Claim 1 — the one thing no alternative does. State it in a single sentence. ]</a:t>
            </a:r>
            <a:endParaRPr lang="en-US" sz="115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5696AC6C-46B8-3AD8-0BC9-4D87F69491B2}"/>
              </a:ext>
            </a:extLst>
          </p:cNvPr>
          <p:cNvSpPr/>
          <p:nvPr/>
        </p:nvSpPr>
        <p:spPr>
          <a:xfrm>
            <a:off x="7854696" y="307238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18289998-4781-5F36-897E-046270A81818}"/>
              </a:ext>
            </a:extLst>
          </p:cNvPr>
          <p:cNvSpPr/>
          <p:nvPr/>
        </p:nvSpPr>
        <p:spPr>
          <a:xfrm>
            <a:off x="7854696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3E1CC913-6650-7D51-B3BE-04FFC6F03CA9}"/>
              </a:ext>
            </a:extLst>
          </p:cNvPr>
          <p:cNvSpPr/>
          <p:nvPr/>
        </p:nvSpPr>
        <p:spPr>
          <a:xfrm>
            <a:off x="8275320" y="305409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Claim 2 — the technical or design choice that makes it possible. ]</a:t>
            </a:r>
            <a:endParaRPr lang="en-US" sz="115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452BAA7D-88B5-DF0A-DF07-47F446E40E07}"/>
              </a:ext>
            </a:extLst>
          </p:cNvPr>
          <p:cNvSpPr/>
          <p:nvPr/>
        </p:nvSpPr>
        <p:spPr>
          <a:xfrm>
            <a:off x="7854696" y="416966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FF085523-EB5F-F227-DB9B-F356DCF89743}"/>
              </a:ext>
            </a:extLst>
          </p:cNvPr>
          <p:cNvSpPr/>
          <p:nvPr/>
        </p:nvSpPr>
        <p:spPr>
          <a:xfrm>
            <a:off x="7854696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3870079C-8595-9A0E-FE51-8B127780F7F7}"/>
              </a:ext>
            </a:extLst>
          </p:cNvPr>
          <p:cNvSpPr/>
          <p:nvPr/>
        </p:nvSpPr>
        <p:spPr>
          <a:xfrm>
            <a:off x="8275320" y="415137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Claim 3 — the evidence: a test result, a patent filing, a user quote. ]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625206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86D4-E4A4-C84D-35F7-B8AB7E2A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2F0AA0-85C7-560F-5EB6-E2C270325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E68442-B887-CEB7-6B66-947F69DF09CE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dirty="0"/>
              <a:t>0</a:t>
            </a:r>
            <a:r>
              <a:rPr lang="en-US" dirty="0"/>
              <a:t>9</a:t>
            </a:r>
            <a:endParaRPr lang="en-SA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907FF6A-FC55-B3DD-3238-3B5DF764603E}"/>
              </a:ext>
            </a:extLst>
          </p:cNvPr>
          <p:cNvSpPr/>
          <p:nvPr/>
        </p:nvSpPr>
        <p:spPr>
          <a:xfrm>
            <a:off x="531888" y="1371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 ·  PROTOTYPE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A155C3F4-6AF7-8698-A17A-8E7E0CD03BF7}"/>
              </a:ext>
            </a:extLst>
          </p:cNvPr>
          <p:cNvSpPr/>
          <p:nvPr/>
        </p:nvSpPr>
        <p:spPr>
          <a:xfrm>
            <a:off x="531888" y="4114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and demo</a:t>
            </a:r>
            <a:endParaRPr lang="en-US" sz="30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9701899D-C7D8-CEAC-FAA2-0780DA6B72B9}"/>
              </a:ext>
            </a:extLst>
          </p:cNvPr>
          <p:cNvSpPr/>
          <p:nvPr/>
        </p:nvSpPr>
        <p:spPr>
          <a:xfrm>
            <a:off x="9236976" y="996696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290922CC-99DF-8354-BD4F-D3B354E06A6F}"/>
              </a:ext>
            </a:extLst>
          </p:cNvPr>
          <p:cNvSpPr/>
          <p:nvPr/>
        </p:nvSpPr>
        <p:spPr>
          <a:xfrm>
            <a:off x="9282696" y="99669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SCORE</a:t>
            </a:r>
            <a:endParaRPr lang="en-US" sz="11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C5D3EC12-92D7-0317-EAB0-2DA6D3EB875F}"/>
              </a:ext>
            </a:extLst>
          </p:cNvPr>
          <p:cNvSpPr/>
          <p:nvPr/>
        </p:nvSpPr>
        <p:spPr>
          <a:xfrm>
            <a:off x="2941320" y="1316736"/>
            <a:ext cx="6309360" cy="3200400"/>
          </a:xfrm>
          <a:prstGeom prst="roundRect">
            <a:avLst>
              <a:gd name="adj" fmla="val 2857"/>
            </a:avLst>
          </a:prstGeom>
          <a:solidFill>
            <a:srgbClr val="0A3D45"/>
          </a:solidFill>
          <a:ln w="12700">
            <a:solidFill>
              <a:srgbClr val="0A3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613CF757-67F6-4F43-C3E3-29C3E0C346A4}"/>
              </a:ext>
            </a:extLst>
          </p:cNvPr>
          <p:cNvSpPr/>
          <p:nvPr/>
        </p:nvSpPr>
        <p:spPr>
          <a:xfrm>
            <a:off x="5940404" y="1833571"/>
            <a:ext cx="868680" cy="86868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99A04DF9-B0B8-FCC7-D0B2-71144380B306}"/>
              </a:ext>
            </a:extLst>
          </p:cNvPr>
          <p:cNvSpPr/>
          <p:nvPr/>
        </p:nvSpPr>
        <p:spPr>
          <a:xfrm rot="5400000">
            <a:off x="6233012" y="2062171"/>
            <a:ext cx="384048" cy="420624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3386F52E-D1F6-EDEB-14FE-8EB1C69AF63A}"/>
              </a:ext>
            </a:extLst>
          </p:cNvPr>
          <p:cNvSpPr/>
          <p:nvPr/>
        </p:nvSpPr>
        <p:spPr>
          <a:xfrm>
            <a:off x="3544676" y="2885131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Embed or link your demo video ]</a:t>
            </a:r>
            <a:endParaRPr lang="en-US" sz="16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1F3EF609-73F5-25EE-EC3B-D82E9BECA362}"/>
              </a:ext>
            </a:extLst>
          </p:cNvPr>
          <p:cNvSpPr/>
          <p:nvPr/>
        </p:nvSpPr>
        <p:spPr>
          <a:xfrm>
            <a:off x="3544676" y="3232603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minutes · real device or working build · captions and Arabic subtitles · a real user operating it, not a mock-up</a:t>
            </a:r>
            <a:endParaRPr lang="en-US" sz="11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CE03055D-9BD0-C170-89DA-6E0A4E86ED54}"/>
              </a:ext>
            </a:extLst>
          </p:cNvPr>
          <p:cNvSpPr/>
          <p:nvPr/>
        </p:nvSpPr>
        <p:spPr>
          <a:xfrm>
            <a:off x="7225296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1A07242C-5D6F-00E4-3408-6E8FEDB86441}"/>
              </a:ext>
            </a:extLst>
          </p:cNvPr>
          <p:cNvSpPr/>
          <p:nvPr/>
        </p:nvSpPr>
        <p:spPr>
          <a:xfrm>
            <a:off x="531888" y="4736592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55F4A90B-C7DB-4F73-096A-AB6C24FBDA58}"/>
              </a:ext>
            </a:extLst>
          </p:cNvPr>
          <p:cNvSpPr/>
          <p:nvPr/>
        </p:nvSpPr>
        <p:spPr>
          <a:xfrm>
            <a:off x="806208" y="4892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950" dirty="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143D9FA3-1584-0C94-B558-6169866EEEA5}"/>
              </a:ext>
            </a:extLst>
          </p:cNvPr>
          <p:cNvSpPr/>
          <p:nvPr/>
        </p:nvSpPr>
        <p:spPr>
          <a:xfrm>
            <a:off x="806208" y="5111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URL ]</a:t>
            </a:r>
            <a:endParaRPr lang="en-US" sz="120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8CD35480-11BF-8395-2170-9DEF03B472DE}"/>
              </a:ext>
            </a:extLst>
          </p:cNvPr>
          <p:cNvSpPr/>
          <p:nvPr/>
        </p:nvSpPr>
        <p:spPr>
          <a:xfrm>
            <a:off x="3503688" y="4892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</a:t>
            </a:r>
            <a:endParaRPr lang="en-US" sz="950" dirty="0"/>
          </a:p>
        </p:txBody>
      </p:sp>
      <p:sp>
        <p:nvSpPr>
          <p:cNvPr id="66" name="Text 30">
            <a:extLst>
              <a:ext uri="{FF2B5EF4-FFF2-40B4-BE49-F238E27FC236}">
                <a16:creationId xmlns:a16="http://schemas.microsoft.com/office/drawing/2014/main" id="{B1CF519C-C453-2F19-D68B-084A03D3C902}"/>
              </a:ext>
            </a:extLst>
          </p:cNvPr>
          <p:cNvSpPr/>
          <p:nvPr/>
        </p:nvSpPr>
        <p:spPr>
          <a:xfrm>
            <a:off x="3503688" y="5111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URL ]</a:t>
            </a:r>
            <a:endParaRPr lang="en-US" sz="1200" dirty="0"/>
          </a:p>
        </p:txBody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9B8C1A69-3DBB-18A8-442B-2F317C776E0A}"/>
              </a:ext>
            </a:extLst>
          </p:cNvPr>
          <p:cNvSpPr/>
          <p:nvPr/>
        </p:nvSpPr>
        <p:spPr>
          <a:xfrm>
            <a:off x="6201168" y="4892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 / APK</a:t>
            </a:r>
            <a:endParaRPr lang="en-US" sz="950" dirty="0"/>
          </a:p>
        </p:txBody>
      </p:sp>
      <p:sp>
        <p:nvSpPr>
          <p:cNvPr id="70" name="Text 32">
            <a:extLst>
              <a:ext uri="{FF2B5EF4-FFF2-40B4-BE49-F238E27FC236}">
                <a16:creationId xmlns:a16="http://schemas.microsoft.com/office/drawing/2014/main" id="{CF47ED7E-67EE-3B1A-A14A-CCE9F47C8B22}"/>
              </a:ext>
            </a:extLst>
          </p:cNvPr>
          <p:cNvSpPr/>
          <p:nvPr/>
        </p:nvSpPr>
        <p:spPr>
          <a:xfrm>
            <a:off x="6201168" y="5111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URL ]</a:t>
            </a:r>
            <a:endParaRPr lang="en-US" sz="1200" dirty="0"/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0D9F234D-3AFA-7298-C51E-2B95120A34EC}"/>
              </a:ext>
            </a:extLst>
          </p:cNvPr>
          <p:cNvSpPr/>
          <p:nvPr/>
        </p:nvSpPr>
        <p:spPr>
          <a:xfrm>
            <a:off x="8898648" y="4892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950" dirty="0"/>
          </a:p>
        </p:txBody>
      </p:sp>
      <p:sp>
        <p:nvSpPr>
          <p:cNvPr id="74" name="Text 34">
            <a:extLst>
              <a:ext uri="{FF2B5EF4-FFF2-40B4-BE49-F238E27FC236}">
                <a16:creationId xmlns:a16="http://schemas.microsoft.com/office/drawing/2014/main" id="{EBEA56E5-AFDA-0222-BDAD-78219B049A2B}"/>
              </a:ext>
            </a:extLst>
          </p:cNvPr>
          <p:cNvSpPr/>
          <p:nvPr/>
        </p:nvSpPr>
        <p:spPr>
          <a:xfrm>
            <a:off x="8898648" y="5111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TRL 1–9 ]</a:t>
            </a:r>
            <a:endParaRPr lang="en-US" sz="1200" dirty="0"/>
          </a:p>
        </p:txBody>
      </p:sp>
      <p:sp>
        <p:nvSpPr>
          <p:cNvPr id="76" name="Text 35">
            <a:extLst>
              <a:ext uri="{FF2B5EF4-FFF2-40B4-BE49-F238E27FC236}">
                <a16:creationId xmlns:a16="http://schemas.microsoft.com/office/drawing/2014/main" id="{A6B3F38A-2E40-4822-6DF9-9E380A84277E}"/>
              </a:ext>
            </a:extLst>
          </p:cNvPr>
          <p:cNvSpPr/>
          <p:nvPr/>
        </p:nvSpPr>
        <p:spPr>
          <a:xfrm>
            <a:off x="531888" y="608076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link from an incognito window before submitting — an unreachable link is scored as a missing deliverable.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2074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AAD37-C46A-03F2-EA23-B7225DC3D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F22308-A562-D162-315F-B3A8CA9DA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CFDD8F-3C95-DF92-E0DD-4845FA7479E3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  <a:endParaRPr lang="en-SA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3D862DBA-7AE1-EAB1-6178-B89A056EFCBB}"/>
              </a:ext>
            </a:extLst>
          </p:cNvPr>
          <p:cNvSpPr/>
          <p:nvPr/>
        </p:nvSpPr>
        <p:spPr>
          <a:xfrm>
            <a:off x="420624" y="731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FEASIBILITY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8BB449D-BF55-4E7E-D988-3D95355BCFD8}"/>
              </a:ext>
            </a:extLst>
          </p:cNvPr>
          <p:cNvSpPr/>
          <p:nvPr/>
        </p:nvSpPr>
        <p:spPr>
          <a:xfrm>
            <a:off x="420624" y="34747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AB2D09E4-C622-DF5B-A964-C7AF5AC7D7B1}"/>
              </a:ext>
            </a:extLst>
          </p:cNvPr>
          <p:cNvSpPr/>
          <p:nvPr/>
        </p:nvSpPr>
        <p:spPr>
          <a:xfrm>
            <a:off x="9400032" y="1000166"/>
            <a:ext cx="2039112" cy="270849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F854381-9F3D-1F79-F756-D1D4982B2965}"/>
              </a:ext>
            </a:extLst>
          </p:cNvPr>
          <p:cNvSpPr/>
          <p:nvPr/>
        </p:nvSpPr>
        <p:spPr>
          <a:xfrm>
            <a:off x="9409176" y="9692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SCORE</a:t>
            </a:r>
            <a:endParaRPr lang="en-US" sz="110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68C9AB74-0270-EC32-97E3-F2EE45CB9F75}"/>
              </a:ext>
            </a:extLst>
          </p:cNvPr>
          <p:cNvSpPr/>
          <p:nvPr/>
        </p:nvSpPr>
        <p:spPr>
          <a:xfrm>
            <a:off x="649224" y="1681901"/>
            <a:ext cx="10194367" cy="411082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0" name="ResultText1000"/>
          <p:cNvSpPr/>
          <p:nvPr/>
        </p:nvSpPr>
        <p:spPr>
          <a:xfrm>
            <a:off x="1014984" y="1831901"/>
            <a:ext cx="94628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QA — verified this development cycle, not projected</a:t>
            </a:r>
            <a:endParaRPr lang="en-US" sz="1400" dirty="0"/>
          </a:p>
        </p:txBody>
      </p:sp>
      <p:sp>
        <p:nvSpPr>
          <p:cNvPr id="1001" name="ResultText1001"/>
          <p:cNvSpPr/>
          <p:nvPr/>
        </p:nvSpPr>
        <p:spPr>
          <a:xfrm>
            <a:off x="1014984" y="2654861"/>
            <a:ext cx="2971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111/111</a:t>
            </a:r>
            <a:endParaRPr lang="en-US" sz="3600" dirty="0"/>
          </a:p>
        </p:txBody>
      </p:sp>
      <p:sp>
        <p:nvSpPr>
          <p:cNvPr id="1002" name="ResultText1002"/>
          <p:cNvSpPr/>
          <p:nvPr/>
        </p:nvSpPr>
        <p:spPr>
          <a:xfrm>
            <a:off x="1014984" y="3354861"/>
            <a:ext cx="2971800" cy="6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0" dirty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passing</a:t>
            </a:r>
            <a:endParaRPr lang="en-US" sz="1100" dirty="0"/>
          </a:p>
        </p:txBody>
      </p:sp>
      <p:sp>
        <p:nvSpPr>
          <p:cNvPr id="1003" name="ResultText1003"/>
          <p:cNvSpPr/>
          <p:nvPr/>
        </p:nvSpPr>
        <p:spPr>
          <a:xfrm>
            <a:off x="4261104" y="2654861"/>
            <a:ext cx="2971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18/18</a:t>
            </a:r>
            <a:endParaRPr lang="en-US" sz="3600" dirty="0"/>
          </a:p>
        </p:txBody>
      </p:sp>
      <p:sp>
        <p:nvSpPr>
          <p:cNvPr id="1004" name="ResultText1004"/>
          <p:cNvSpPr/>
          <p:nvPr/>
        </p:nvSpPr>
        <p:spPr>
          <a:xfrm>
            <a:off x="4261104" y="3354861"/>
            <a:ext cx="2971800" cy="6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0" dirty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verified on real PostgreSQL, from empty</a:t>
            </a:r>
            <a:endParaRPr lang="en-US" sz="1100" dirty="0"/>
          </a:p>
        </p:txBody>
      </p:sp>
      <p:sp>
        <p:nvSpPr>
          <p:cNvPr id="1005" name="ResultText1005"/>
          <p:cNvSpPr/>
          <p:nvPr/>
        </p:nvSpPr>
        <p:spPr>
          <a:xfrm>
            <a:off x="7507224" y="2654861"/>
            <a:ext cx="2971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006" name="ResultText1006"/>
          <p:cNvSpPr/>
          <p:nvPr/>
        </p:nvSpPr>
        <p:spPr>
          <a:xfrm>
            <a:off x="7507224" y="3354861"/>
            <a:ext cx="2971800" cy="6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0" dirty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Horizontal-overflow issues across 5 required viewport sizes</a:t>
            </a:r>
            <a:endParaRPr lang="en-US" sz="1100" dirty="0"/>
          </a:p>
        </p:txBody>
      </p:sp>
      <p:sp>
        <p:nvSpPr>
          <p:cNvPr id="1007" name="ResultText1007"/>
          <p:cNvSpPr/>
          <p:nvPr/>
        </p:nvSpPr>
        <p:spPr>
          <a:xfrm>
            <a:off x="1014984" y="4255061"/>
            <a:ext cx="2971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5.18:1</a:t>
            </a:r>
            <a:endParaRPr lang="en-US" sz="3600" dirty="0"/>
          </a:p>
        </p:txBody>
      </p:sp>
      <p:sp>
        <p:nvSpPr>
          <p:cNvPr id="1008" name="ResultText1008"/>
          <p:cNvSpPr/>
          <p:nvPr/>
        </p:nvSpPr>
        <p:spPr>
          <a:xfrm>
            <a:off x="1014984" y="4955061"/>
            <a:ext cx="2971800" cy="6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0" dirty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color contrast (WCAG AA requires 4.5:1)</a:t>
            </a:r>
            <a:endParaRPr lang="en-US" sz="1100" dirty="0"/>
          </a:p>
        </p:txBody>
      </p:sp>
      <p:sp>
        <p:nvSpPr>
          <p:cNvPr id="1009" name="ResultText1009"/>
          <p:cNvSpPr/>
          <p:nvPr/>
        </p:nvSpPr>
        <p:spPr>
          <a:xfrm>
            <a:off x="4261104" y="4255061"/>
            <a:ext cx="2971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010" name="ResultText1010"/>
          <p:cNvSpPr/>
          <p:nvPr/>
        </p:nvSpPr>
        <p:spPr>
          <a:xfrm>
            <a:off x="4261104" y="4955061"/>
            <a:ext cx="2971800" cy="6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0" dirty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synthetic child journeys, different needs</a:t>
            </a:r>
            <a:endParaRPr lang="en-US" sz="1100" dirty="0"/>
          </a:p>
        </p:txBody>
      </p:sp>
      <p:sp>
        <p:nvSpPr>
          <p:cNvPr id="1011" name="ResultText1011"/>
          <p:cNvSpPr/>
          <p:nvPr/>
        </p:nvSpPr>
        <p:spPr>
          <a:xfrm>
            <a:off x="7507224" y="4255061"/>
            <a:ext cx="2971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012" name="ResultText1012"/>
          <p:cNvSpPr/>
          <p:nvPr/>
        </p:nvSpPr>
        <p:spPr>
          <a:xfrm>
            <a:off x="7507224" y="4955061"/>
            <a:ext cx="2971800" cy="6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0" dirty="0">
                <a:solidFill>
                  <a:srgbClr val="66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centers researched from official sources, admin-reviewable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0386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BD6B4-00FB-B27F-D63F-F1E8E36D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B23D9E-3DAE-046B-4BBE-3B92E857C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F9C0D7-A37E-2C9A-A9C1-75CEA1BBFBD1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  <a:endParaRPr lang="en-SA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9B9EB341-C18E-A87C-1A9E-04197EE18165}"/>
              </a:ext>
            </a:extLst>
          </p:cNvPr>
          <p:cNvSpPr/>
          <p:nvPr/>
        </p:nvSpPr>
        <p:spPr>
          <a:xfrm>
            <a:off x="402336" y="1188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 ·  IMPACT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8C95552-0C0F-0623-E5A7-31322E96AF2E}"/>
              </a:ext>
            </a:extLst>
          </p:cNvPr>
          <p:cNvSpPr/>
          <p:nvPr/>
        </p:nvSpPr>
        <p:spPr>
          <a:xfrm>
            <a:off x="402336" y="3931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062AE06-288C-6726-A92A-FE5755582B98}"/>
              </a:ext>
            </a:extLst>
          </p:cNvPr>
          <p:cNvSpPr/>
          <p:nvPr/>
        </p:nvSpPr>
        <p:spPr>
          <a:xfrm>
            <a:off x="9144000" y="973836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9EF56B27-3678-9DFC-5D20-17CE173718C1}"/>
              </a:ext>
            </a:extLst>
          </p:cNvPr>
          <p:cNvSpPr/>
          <p:nvPr/>
        </p:nvSpPr>
        <p:spPr>
          <a:xfrm>
            <a:off x="9144000" y="9738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SCORE</a:t>
            </a:r>
            <a:endParaRPr lang="en-US" sz="11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06820275-0219-2D3B-4021-D8068926650D}"/>
              </a:ext>
            </a:extLst>
          </p:cNvPr>
          <p:cNvSpPr/>
          <p:nvPr/>
        </p:nvSpPr>
        <p:spPr>
          <a:xfrm>
            <a:off x="402336" y="1362456"/>
            <a:ext cx="3511296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6849F01B-D27A-7142-7B80-2A6E94283E91}"/>
              </a:ext>
            </a:extLst>
          </p:cNvPr>
          <p:cNvSpPr/>
          <p:nvPr/>
        </p:nvSpPr>
        <p:spPr>
          <a:xfrm>
            <a:off x="658368" y="156362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43CD977-9FA1-90D8-2CE0-EE2ADBB662BB}"/>
              </a:ext>
            </a:extLst>
          </p:cNvPr>
          <p:cNvSpPr/>
          <p:nvPr/>
        </p:nvSpPr>
        <p:spPr>
          <a:xfrm>
            <a:off x="658368" y="15636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F129C52-DFD1-B386-B225-5D8383B24C29}"/>
              </a:ext>
            </a:extLst>
          </p:cNvPr>
          <p:cNvSpPr/>
          <p:nvPr/>
        </p:nvSpPr>
        <p:spPr>
          <a:xfrm>
            <a:off x="658368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deliver</a:t>
            </a:r>
            <a:endParaRPr lang="en-US" sz="15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42D2A16-821A-BDA8-C022-82709A646BE9}"/>
              </a:ext>
            </a:extLst>
          </p:cNvPr>
          <p:cNvSpPr/>
          <p:nvPr/>
        </p:nvSpPr>
        <p:spPr>
          <a:xfrm>
            <a:off x="658368" y="2340864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Units deployed, users onboarded, sessions delivered in year 1 ]</a:t>
            </a:r>
            <a:endParaRPr lang="en-US" sz="11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5E519C0D-8F2F-F8CE-E9D4-E6C3208A7CF3}"/>
              </a:ext>
            </a:extLst>
          </p:cNvPr>
          <p:cNvSpPr/>
          <p:nvPr/>
        </p:nvSpPr>
        <p:spPr>
          <a:xfrm>
            <a:off x="3913632" y="23408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B40306AE-0CEE-AB67-7A3F-9193749943E6}"/>
              </a:ext>
            </a:extLst>
          </p:cNvPr>
          <p:cNvSpPr/>
          <p:nvPr/>
        </p:nvSpPr>
        <p:spPr>
          <a:xfrm>
            <a:off x="4187952" y="1362456"/>
            <a:ext cx="3511296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542FCD71-7AB1-0B85-6997-B9DC506AC340}"/>
              </a:ext>
            </a:extLst>
          </p:cNvPr>
          <p:cNvSpPr/>
          <p:nvPr/>
        </p:nvSpPr>
        <p:spPr>
          <a:xfrm>
            <a:off x="4443984" y="156362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B920E1E7-D574-47CF-4BC0-CFD012732FE9}"/>
              </a:ext>
            </a:extLst>
          </p:cNvPr>
          <p:cNvSpPr/>
          <p:nvPr/>
        </p:nvSpPr>
        <p:spPr>
          <a:xfrm>
            <a:off x="4443984" y="15636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AA4E254E-38B9-8395-444D-3CBB80C90800}"/>
              </a:ext>
            </a:extLst>
          </p:cNvPr>
          <p:cNvSpPr/>
          <p:nvPr/>
        </p:nvSpPr>
        <p:spPr>
          <a:xfrm>
            <a:off x="4443984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the user</a:t>
            </a:r>
            <a:endParaRPr lang="en-US" sz="15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E7793138-28F5-E586-EFE1-8374000249C4}"/>
              </a:ext>
            </a:extLst>
          </p:cNvPr>
          <p:cNvSpPr/>
          <p:nvPr/>
        </p:nvSpPr>
        <p:spPr>
          <a:xfrm>
            <a:off x="4443984" y="2340864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measurable change in independence, access, health or participation ]</a:t>
            </a:r>
            <a:endParaRPr lang="en-US" sz="115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ABD3FA0F-E5F2-CFC8-4BDF-3E3A57E02B37}"/>
              </a:ext>
            </a:extLst>
          </p:cNvPr>
          <p:cNvSpPr/>
          <p:nvPr/>
        </p:nvSpPr>
        <p:spPr>
          <a:xfrm>
            <a:off x="7699248" y="23408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ACA2D6A4-BFDE-2D35-133D-0D3DB8505884}"/>
              </a:ext>
            </a:extLst>
          </p:cNvPr>
          <p:cNvSpPr/>
          <p:nvPr/>
        </p:nvSpPr>
        <p:spPr>
          <a:xfrm>
            <a:off x="7973568" y="1362456"/>
            <a:ext cx="3511296" cy="2377440"/>
          </a:xfrm>
          <a:prstGeom prst="roundRect">
            <a:avLst>
              <a:gd name="adj" fmla="val 3846"/>
            </a:avLst>
          </a:prstGeom>
          <a:solidFill>
            <a:srgbClr val="E7F0E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265C435B-0C94-3018-69FE-8CB5E2D911AA}"/>
              </a:ext>
            </a:extLst>
          </p:cNvPr>
          <p:cNvSpPr/>
          <p:nvPr/>
        </p:nvSpPr>
        <p:spPr>
          <a:xfrm>
            <a:off x="8229600" y="156362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A3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ADD1D80F-6BBC-2404-5AC3-544D0186C21F}"/>
              </a:ext>
            </a:extLst>
          </p:cNvPr>
          <p:cNvSpPr/>
          <p:nvPr/>
        </p:nvSpPr>
        <p:spPr>
          <a:xfrm>
            <a:off x="8229600" y="15636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10A9931A-D5B9-DC62-457F-F4CB6CC46DC8}"/>
              </a:ext>
            </a:extLst>
          </p:cNvPr>
          <p:cNvSpPr/>
          <p:nvPr/>
        </p:nvSpPr>
        <p:spPr>
          <a:xfrm>
            <a:off x="8229600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at scale</a:t>
            </a:r>
            <a:endParaRPr lang="en-US" sz="150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F92AF684-3AE5-A388-CB9F-BEF8A00D1E85}"/>
              </a:ext>
            </a:extLst>
          </p:cNvPr>
          <p:cNvSpPr/>
          <p:nvPr/>
        </p:nvSpPr>
        <p:spPr>
          <a:xfrm>
            <a:off x="8229600" y="2340864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long-term effect on families, services and Vision 2030 inclusion goals ]</a:t>
            </a:r>
            <a:endParaRPr lang="en-US" sz="1150" dirty="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E6F88F96-517E-6E95-B5F1-383AF3EB0921}"/>
              </a:ext>
            </a:extLst>
          </p:cNvPr>
          <p:cNvSpPr/>
          <p:nvPr/>
        </p:nvSpPr>
        <p:spPr>
          <a:xfrm>
            <a:off x="402336" y="3941064"/>
            <a:ext cx="6949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913603A5-476F-7888-2888-EE79A55DBC7B}"/>
              </a:ext>
            </a:extLst>
          </p:cNvPr>
          <p:cNvSpPr/>
          <p:nvPr/>
        </p:nvSpPr>
        <p:spPr>
          <a:xfrm>
            <a:off x="676656" y="4142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MEASURE IT</a:t>
            </a:r>
            <a:endParaRPr lang="en-US" sz="11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53EB7C7C-7B4C-1D6F-86DD-233E864BE966}"/>
              </a:ext>
            </a:extLst>
          </p:cNvPr>
          <p:cNvSpPr/>
          <p:nvPr/>
        </p:nvSpPr>
        <p:spPr>
          <a:xfrm>
            <a:off x="676656" y="443484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10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3798B729-A70D-CA01-C49D-266175336059}"/>
              </a:ext>
            </a:extLst>
          </p:cNvPr>
          <p:cNvSpPr/>
          <p:nvPr/>
        </p:nvSpPr>
        <p:spPr>
          <a:xfrm>
            <a:off x="676656" y="465429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one number that proves it works ]</a:t>
            </a:r>
            <a:endParaRPr lang="en-US" sz="110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F47FDC06-EC02-B852-B23F-EEEC0FD0F462}"/>
              </a:ext>
            </a:extLst>
          </p:cNvPr>
          <p:cNvSpPr/>
          <p:nvPr/>
        </p:nvSpPr>
        <p:spPr>
          <a:xfrm>
            <a:off x="2889504" y="443484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target</a:t>
            </a:r>
            <a:endParaRPr lang="en-US" sz="1000" dirty="0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D5812A32-310A-6531-CF60-47C30B1E9DA5}"/>
              </a:ext>
            </a:extLst>
          </p:cNvPr>
          <p:cNvSpPr/>
          <p:nvPr/>
        </p:nvSpPr>
        <p:spPr>
          <a:xfrm>
            <a:off x="2889504" y="465429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From 00 to 00 within 12 months ]</a:t>
            </a:r>
            <a:endParaRPr lang="en-US" sz="1100" dirty="0"/>
          </a:p>
        </p:txBody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925C2C98-99CA-556E-0C31-DE82E81C906D}"/>
              </a:ext>
            </a:extLst>
          </p:cNvPr>
          <p:cNvSpPr/>
          <p:nvPr/>
        </p:nvSpPr>
        <p:spPr>
          <a:xfrm>
            <a:off x="5102352" y="443484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5CDECB12-639A-9F10-2B4F-667E2BCAA7EE}"/>
              </a:ext>
            </a:extLst>
          </p:cNvPr>
          <p:cNvSpPr/>
          <p:nvPr/>
        </p:nvSpPr>
        <p:spPr>
          <a:xfrm>
            <a:off x="5102352" y="465429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How and how often you will collect it ]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5600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DE4CF-034D-B4B2-0BC8-F0CC8C8BE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0A95CD-2499-687A-0794-08346DF7F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D5B81B-098B-A2DB-48C0-A1F3A98DCF31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  <a:endParaRPr lang="en-SA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9AA8F5A6-984D-6997-5CE9-DDCE8577950B}"/>
              </a:ext>
            </a:extLst>
          </p:cNvPr>
          <p:cNvSpPr/>
          <p:nvPr/>
        </p:nvSpPr>
        <p:spPr>
          <a:xfrm>
            <a:off x="448056" y="822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r>
              <a:rPr lang="en-US" sz="1100" b="1" kern="0" spc="200" dirty="0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4F9FF09-8AFD-6EBD-F202-02264411DAF0}"/>
              </a:ext>
            </a:extLst>
          </p:cNvPr>
          <p:cNvSpPr/>
          <p:nvPr/>
        </p:nvSpPr>
        <p:spPr>
          <a:xfrm>
            <a:off x="448056" y="356616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and scalability</a:t>
            </a:r>
            <a:endParaRPr lang="en-US" sz="30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AA4BC52-F350-1E43-868C-DFF0F686D26C}"/>
              </a:ext>
            </a:extLst>
          </p:cNvPr>
          <p:cNvSpPr/>
          <p:nvPr/>
        </p:nvSpPr>
        <p:spPr>
          <a:xfrm>
            <a:off x="9070848" y="100584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0D31EF5-FE26-6EA0-DD64-2CA2E5FA8A97}"/>
              </a:ext>
            </a:extLst>
          </p:cNvPr>
          <p:cNvSpPr/>
          <p:nvPr/>
        </p:nvSpPr>
        <p:spPr>
          <a:xfrm>
            <a:off x="9070848" y="978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SCORE</a:t>
            </a:r>
            <a:endParaRPr lang="en-US" sz="11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519834C1-493A-D403-5B73-376DB55636A5}"/>
              </a:ext>
            </a:extLst>
          </p:cNvPr>
          <p:cNvSpPr/>
          <p:nvPr/>
        </p:nvSpPr>
        <p:spPr>
          <a:xfrm>
            <a:off x="448056" y="1325880"/>
            <a:ext cx="5404104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243F3B0-EF52-2761-83F7-74BA759C73B7}"/>
              </a:ext>
            </a:extLst>
          </p:cNvPr>
          <p:cNvSpPr/>
          <p:nvPr/>
        </p:nvSpPr>
        <p:spPr>
          <a:xfrm>
            <a:off x="722376" y="15453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SUSTAINS ITSELF</a:t>
            </a:r>
            <a:endParaRPr lang="en-US" sz="11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4AF1B38-A871-2BDD-77FE-127936586193}"/>
              </a:ext>
            </a:extLst>
          </p:cNvPr>
          <p:cNvSpPr/>
          <p:nvPr/>
        </p:nvSpPr>
        <p:spPr>
          <a:xfrm>
            <a:off x="722376" y="19110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0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B4DD8580-1D9E-D632-0D16-E38E73A947D9}"/>
              </a:ext>
            </a:extLst>
          </p:cNvPr>
          <p:cNvSpPr/>
          <p:nvPr/>
        </p:nvSpPr>
        <p:spPr>
          <a:xfrm>
            <a:off x="722376" y="21305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User, family, insurer, employer, ministry, school, NGO or hospital ]</a:t>
            </a:r>
            <a:endParaRPr lang="en-US" sz="115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CE01FCB1-7667-EFB8-9678-6E58967FA0E1}"/>
              </a:ext>
            </a:extLst>
          </p:cNvPr>
          <p:cNvSpPr/>
          <p:nvPr/>
        </p:nvSpPr>
        <p:spPr>
          <a:xfrm>
            <a:off x="722376" y="27614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or funding model</a:t>
            </a:r>
            <a:endParaRPr lang="en-US" sz="10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66CCEB32-0A5D-8199-E103-D300CD4883E0}"/>
              </a:ext>
            </a:extLst>
          </p:cNvPr>
          <p:cNvSpPr/>
          <p:nvPr/>
        </p:nvSpPr>
        <p:spPr>
          <a:xfrm>
            <a:off x="722376" y="298094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Unit sale, subscription, service contract, grant, or hybrid ]</a:t>
            </a:r>
            <a:endParaRPr lang="en-US" sz="115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6B2C2FA-E069-C867-AF16-61E2934E3FFB}"/>
              </a:ext>
            </a:extLst>
          </p:cNvPr>
          <p:cNvSpPr/>
          <p:nvPr/>
        </p:nvSpPr>
        <p:spPr>
          <a:xfrm>
            <a:off x="722376" y="36118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unit / per user</a:t>
            </a:r>
            <a:endParaRPr lang="en-US" sz="10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1C6C705C-D65F-D584-532C-6DE301CB7564}"/>
              </a:ext>
            </a:extLst>
          </p:cNvPr>
          <p:cNvSpPr/>
          <p:nvPr/>
        </p:nvSpPr>
        <p:spPr>
          <a:xfrm>
            <a:off x="722376" y="38313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SAR 000 today  →  SAR 000 at volume ]</a:t>
            </a:r>
            <a:endParaRPr lang="en-US" sz="115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D67794E6-F952-BB6B-2D64-CDBDA6F844C0}"/>
              </a:ext>
            </a:extLst>
          </p:cNvPr>
          <p:cNvSpPr/>
          <p:nvPr/>
        </p:nvSpPr>
        <p:spPr>
          <a:xfrm>
            <a:off x="722376" y="44622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break-even</a:t>
            </a:r>
            <a:endParaRPr lang="en-US" sz="10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D1A008D8-4F6C-F206-658F-709A93D3BAF7}"/>
              </a:ext>
            </a:extLst>
          </p:cNvPr>
          <p:cNvSpPr/>
          <p:nvPr/>
        </p:nvSpPr>
        <p:spPr>
          <a:xfrm>
            <a:off x="722376" y="46817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Volume and timeline required ]</a:t>
            </a:r>
            <a:endParaRPr lang="en-US" sz="1150" dirty="0"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CC309FC2-9C0E-5D88-E872-A604EF0FBCAF}"/>
              </a:ext>
            </a:extLst>
          </p:cNvPr>
          <p:cNvSpPr/>
          <p:nvPr/>
        </p:nvSpPr>
        <p:spPr>
          <a:xfrm>
            <a:off x="6126480" y="1325880"/>
            <a:ext cx="5413248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3AF2CF32-A080-B8E2-59BB-778A4429325A}"/>
              </a:ext>
            </a:extLst>
          </p:cNvPr>
          <p:cNvSpPr/>
          <p:nvPr/>
        </p:nvSpPr>
        <p:spPr>
          <a:xfrm>
            <a:off x="6400800" y="15453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SCALE</a:t>
            </a:r>
            <a:endParaRPr lang="en-US" sz="1100" dirty="0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10FA5EB2-3889-915F-2509-930EA347B5D2}"/>
              </a:ext>
            </a:extLst>
          </p:cNvPr>
          <p:cNvSpPr/>
          <p:nvPr/>
        </p:nvSpPr>
        <p:spPr>
          <a:xfrm>
            <a:off x="6400800" y="1911096"/>
            <a:ext cx="4864608" cy="932688"/>
          </a:xfrm>
          <a:prstGeom prst="roundRect">
            <a:avLst>
              <a:gd name="adj" fmla="val 7843"/>
            </a:avLst>
          </a:prstGeom>
          <a:solidFill>
            <a:srgbClr val="E7F0EF"/>
          </a:solidFill>
          <a:ln w="12700">
            <a:solidFill>
              <a:srgbClr val="D7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05AC5120-50DA-3350-A835-897B01F6608D}"/>
              </a:ext>
            </a:extLst>
          </p:cNvPr>
          <p:cNvSpPr/>
          <p:nvPr/>
        </p:nvSpPr>
        <p:spPr>
          <a:xfrm>
            <a:off x="6583680" y="2194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84F7DBB2-E5EA-527B-8CA1-378BDCD69D24}"/>
              </a:ext>
            </a:extLst>
          </p:cNvPr>
          <p:cNvSpPr/>
          <p:nvPr/>
        </p:nvSpPr>
        <p:spPr>
          <a:xfrm>
            <a:off x="65836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8D755CA7-36A6-EE57-6366-738DC0D3D681}"/>
              </a:ext>
            </a:extLst>
          </p:cNvPr>
          <p:cNvSpPr/>
          <p:nvPr/>
        </p:nvSpPr>
        <p:spPr>
          <a:xfrm>
            <a:off x="7059168" y="2057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A77DE011-F662-BC4A-2C77-726E69446DA7}"/>
              </a:ext>
            </a:extLst>
          </p:cNvPr>
          <p:cNvSpPr/>
          <p:nvPr/>
        </p:nvSpPr>
        <p:spPr>
          <a:xfrm>
            <a:off x="7059168" y="22951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Pilot — where, with whom, how many users ]</a:t>
            </a:r>
            <a:endParaRPr lang="en-US" sz="1100" dirty="0"/>
          </a:p>
        </p:txBody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C8D62E3F-C580-A2E7-2B1A-1E0EC3BD14A2}"/>
              </a:ext>
            </a:extLst>
          </p:cNvPr>
          <p:cNvSpPr/>
          <p:nvPr/>
        </p:nvSpPr>
        <p:spPr>
          <a:xfrm>
            <a:off x="6400800" y="2953512"/>
            <a:ext cx="4864608" cy="932688"/>
          </a:xfrm>
          <a:prstGeom prst="roundRect">
            <a:avLst>
              <a:gd name="adj" fmla="val 7843"/>
            </a:avLst>
          </a:prstGeom>
          <a:solidFill>
            <a:srgbClr val="F3F8F7"/>
          </a:solidFill>
          <a:ln w="12700">
            <a:solidFill>
              <a:srgbClr val="D7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F1F8C3C4-9259-A957-4F01-8015829D7F25}"/>
              </a:ext>
            </a:extLst>
          </p:cNvPr>
          <p:cNvSpPr/>
          <p:nvPr/>
        </p:nvSpPr>
        <p:spPr>
          <a:xfrm>
            <a:off x="6583680" y="3236976"/>
            <a:ext cx="365760" cy="365760"/>
          </a:xfrm>
          <a:prstGeom prst="ellipse">
            <a:avLst/>
          </a:prstGeom>
          <a:solidFill>
            <a:srgbClr val="0A3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F3C56F12-BB65-004C-4C45-9DCDBFF45901}"/>
              </a:ext>
            </a:extLst>
          </p:cNvPr>
          <p:cNvSpPr/>
          <p:nvPr/>
        </p:nvSpPr>
        <p:spPr>
          <a:xfrm>
            <a:off x="658368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9FAA3793-E64C-8FDC-5F70-EDBB31F88F59}"/>
              </a:ext>
            </a:extLst>
          </p:cNvPr>
          <p:cNvSpPr/>
          <p:nvPr/>
        </p:nvSpPr>
        <p:spPr>
          <a:xfrm>
            <a:off x="7059168" y="30998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5FCA5511-B80F-C618-2B9E-37AABD918954}"/>
              </a:ext>
            </a:extLst>
          </p:cNvPr>
          <p:cNvSpPr/>
          <p:nvPr/>
        </p:nvSpPr>
        <p:spPr>
          <a:xfrm>
            <a:off x="7059168" y="3337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Regional rollout — the constraint you must solve first ]</a:t>
            </a:r>
            <a:endParaRPr lang="en-US" sz="1100" dirty="0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2C4F2B2F-7EB7-6D89-875E-6F12814B350C}"/>
              </a:ext>
            </a:extLst>
          </p:cNvPr>
          <p:cNvSpPr/>
          <p:nvPr/>
        </p:nvSpPr>
        <p:spPr>
          <a:xfrm>
            <a:off x="6400800" y="3995928"/>
            <a:ext cx="4864608" cy="932688"/>
          </a:xfrm>
          <a:prstGeom prst="roundRect">
            <a:avLst>
              <a:gd name="adj" fmla="val 7843"/>
            </a:avLst>
          </a:prstGeom>
          <a:solidFill>
            <a:srgbClr val="F3F8F7"/>
          </a:solidFill>
          <a:ln w="12700">
            <a:solidFill>
              <a:srgbClr val="D7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28">
            <a:extLst>
              <a:ext uri="{FF2B5EF4-FFF2-40B4-BE49-F238E27FC236}">
                <a16:creationId xmlns:a16="http://schemas.microsoft.com/office/drawing/2014/main" id="{886DF924-4DC1-92D6-A2A1-CBE32995CA57}"/>
              </a:ext>
            </a:extLst>
          </p:cNvPr>
          <p:cNvSpPr/>
          <p:nvPr/>
        </p:nvSpPr>
        <p:spPr>
          <a:xfrm>
            <a:off x="6583680" y="4279392"/>
            <a:ext cx="365760" cy="365760"/>
          </a:xfrm>
          <a:prstGeom prst="ellipse">
            <a:avLst/>
          </a:prstGeom>
          <a:solidFill>
            <a:srgbClr val="0A3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6B33ED05-A883-BBDD-BCDE-3B21CD16EEBD}"/>
              </a:ext>
            </a:extLst>
          </p:cNvPr>
          <p:cNvSpPr/>
          <p:nvPr/>
        </p:nvSpPr>
        <p:spPr>
          <a:xfrm>
            <a:off x="658368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6" name="Text 30">
            <a:extLst>
              <a:ext uri="{FF2B5EF4-FFF2-40B4-BE49-F238E27FC236}">
                <a16:creationId xmlns:a16="http://schemas.microsoft.com/office/drawing/2014/main" id="{5B7A1CFB-1D2A-76E9-2EDC-83A96109412D}"/>
              </a:ext>
            </a:extLst>
          </p:cNvPr>
          <p:cNvSpPr/>
          <p:nvPr/>
        </p:nvSpPr>
        <p:spPr>
          <a:xfrm>
            <a:off x="7059168" y="41422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2E26F512-9EC1-B9AB-E38A-1072AC3F90CC}"/>
              </a:ext>
            </a:extLst>
          </p:cNvPr>
          <p:cNvSpPr/>
          <p:nvPr/>
        </p:nvSpPr>
        <p:spPr>
          <a:xfrm>
            <a:off x="7059168" y="43799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Kingdom-wide or GCC — what makes replication cheap ]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2423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871A-3625-2C29-8B26-9CFD25E3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1489DC-78DB-BC9E-2EEE-9B17FA2DF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4BBE36-14CC-C6AA-024D-918A2A469E8C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  <a:endParaRPr lang="en-SA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DE7B7ED5-8195-6C9F-4F23-B91D71D767F1}"/>
              </a:ext>
            </a:extLst>
          </p:cNvPr>
          <p:cNvSpPr/>
          <p:nvPr/>
        </p:nvSpPr>
        <p:spPr>
          <a:xfrm>
            <a:off x="429768" y="822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r>
              <a:rPr lang="en-US" sz="1100" b="1" kern="0" spc="200" dirty="0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SAFETY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8F53404-5376-1F6C-D1C2-F3233C8AA1C6}"/>
              </a:ext>
            </a:extLst>
          </p:cNvPr>
          <p:cNvSpPr/>
          <p:nvPr/>
        </p:nvSpPr>
        <p:spPr>
          <a:xfrm>
            <a:off x="429768" y="356616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Safety, reliability and accessibility</a:t>
            </a:r>
            <a:endParaRPr lang="en-US" sz="30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3ABEA23-3631-6703-AA42-76C8CAD8DA6E}"/>
              </a:ext>
            </a:extLst>
          </p:cNvPr>
          <p:cNvSpPr/>
          <p:nvPr/>
        </p:nvSpPr>
        <p:spPr>
          <a:xfrm>
            <a:off x="9144000" y="987552"/>
            <a:ext cx="1892808" cy="246888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98B84CA-1011-9BAA-FC6B-10973B2BF86D}"/>
              </a:ext>
            </a:extLst>
          </p:cNvPr>
          <p:cNvSpPr/>
          <p:nvPr/>
        </p:nvSpPr>
        <p:spPr>
          <a:xfrm>
            <a:off x="9038844" y="9418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SCORE</a:t>
            </a:r>
            <a:endParaRPr lang="en-US" sz="11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049EF6F9-B86B-7C14-CC45-652AB0BD2DB4}"/>
              </a:ext>
            </a:extLst>
          </p:cNvPr>
          <p:cNvSpPr/>
          <p:nvPr/>
        </p:nvSpPr>
        <p:spPr>
          <a:xfrm>
            <a:off x="429768" y="1325880"/>
            <a:ext cx="3511296" cy="420624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35995197-4C5D-0C82-CC33-EC50DE2F4CCE}"/>
              </a:ext>
            </a:extLst>
          </p:cNvPr>
          <p:cNvSpPr/>
          <p:nvPr/>
        </p:nvSpPr>
        <p:spPr>
          <a:xfrm>
            <a:off x="685800" y="1545336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0A3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11233B9C-4EEA-9AF4-20B4-8F234DB6D212}"/>
              </a:ext>
            </a:extLst>
          </p:cNvPr>
          <p:cNvSpPr/>
          <p:nvPr/>
        </p:nvSpPr>
        <p:spPr>
          <a:xfrm>
            <a:off x="685800" y="15453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500" dirty="0"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CE07A677-D770-3F41-3AF1-810DF2F3CBFE}"/>
              </a:ext>
            </a:extLst>
          </p:cNvPr>
          <p:cNvSpPr/>
          <p:nvPr/>
        </p:nvSpPr>
        <p:spPr>
          <a:xfrm>
            <a:off x="4215384" y="1325880"/>
            <a:ext cx="3511296" cy="420624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854A502F-F6F6-2CF7-A6C6-A1492AA72C58}"/>
              </a:ext>
            </a:extLst>
          </p:cNvPr>
          <p:cNvSpPr/>
          <p:nvPr/>
        </p:nvSpPr>
        <p:spPr>
          <a:xfrm>
            <a:off x="4471416" y="1545336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51E03D99-9C6A-2633-4862-C91C20244459}"/>
              </a:ext>
            </a:extLst>
          </p:cNvPr>
          <p:cNvSpPr/>
          <p:nvPr/>
        </p:nvSpPr>
        <p:spPr>
          <a:xfrm>
            <a:off x="4471416" y="15453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FDFBFDF2-94B4-6BF1-F71F-48D04A74F90B}"/>
              </a:ext>
            </a:extLst>
          </p:cNvPr>
          <p:cNvSpPr/>
          <p:nvPr/>
        </p:nvSpPr>
        <p:spPr>
          <a:xfrm>
            <a:off x="8001000" y="1325880"/>
            <a:ext cx="3511296" cy="420624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01600" dist="25400" dir="5400000" algn="bl" rotWithShape="0">
              <a:srgbClr val="0A3D4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3AA85CD3-F5CB-71D8-023F-E52AF530A86C}"/>
              </a:ext>
            </a:extLst>
          </p:cNvPr>
          <p:cNvSpPr/>
          <p:nvPr/>
        </p:nvSpPr>
        <p:spPr>
          <a:xfrm>
            <a:off x="8257032" y="1545336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E9A1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226F5A24-183D-EED6-CB78-47065D320276}"/>
              </a:ext>
            </a:extLst>
          </p:cNvPr>
          <p:cNvSpPr/>
          <p:nvPr/>
        </p:nvSpPr>
        <p:spPr>
          <a:xfrm>
            <a:off x="8257032" y="15453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7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&amp; ethics</a:t>
            </a:r>
            <a:endParaRPr lang="en-US" sz="1500" dirty="0"/>
          </a:p>
        </p:txBody>
      </p:sp>
      <p:sp>
        <p:nvSpPr>
          <p:cNvPr id="2000" name="SafetyBullets2000"/>
          <p:cNvSpPr/>
          <p:nvPr/>
        </p:nvSpPr>
        <p:spPr>
          <a:xfrm>
            <a:off x="689768" y="2079384"/>
            <a:ext cx="2991296" cy="325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care data are stored in separate tables, not just filtered on screen</a:t>
            </a:r>
          </a:p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AI-assisted output is a labeled draft until a human approves it</a:t>
            </a:r>
          </a:p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Guardian-controlled permissions, with expiry and revocation</a:t>
            </a:r>
          </a:p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matching never uses medical-endorsement language</a:t>
            </a:r>
          </a:p>
        </p:txBody>
      </p:sp>
      <p:sp>
        <p:nvSpPr>
          <p:cNvPr id="2001" name="SafetyBullets2001"/>
          <p:cNvSpPr/>
          <p:nvPr/>
        </p:nvSpPr>
        <p:spPr>
          <a:xfrm>
            <a:off x="4475384" y="2079384"/>
            <a:ext cx="2991296" cy="325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111/111 backend tests passing, including new security regression tests</a:t>
            </a:r>
          </a:p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migrations verified from empty on real PostgreSQL, not just SQLite</a:t>
            </a:r>
          </a:p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deterministic fallback if the external AI service is unavailable</a:t>
            </a:r>
          </a:p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lockout and server-side refresh-token rotation, not just short expiry</a:t>
            </a:r>
          </a:p>
        </p:txBody>
      </p:sp>
      <p:sp>
        <p:nvSpPr>
          <p:cNvPr id="2002" name="SafetyBullets2002"/>
          <p:cNvSpPr/>
          <p:nvPr/>
        </p:nvSpPr>
        <p:spPr>
          <a:xfrm>
            <a:off x="8261000" y="2079384"/>
            <a:ext cx="2991296" cy="325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focus visible everywhere; reduced motion respected</a:t>
            </a:r>
          </a:p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color pairing checked against WCAG AA (worst case 5.18:1)</a:t>
            </a:r>
          </a:p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Arabic-first, with correct right-to-left layout throughout</a:t>
            </a:r>
          </a:p>
          <a:p>
            <a:pPr marL="182880" indent="-18288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0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demonstration data is synthetic — no real child information</a:t>
            </a:r>
          </a:p>
        </p:txBody>
      </p:sp>
    </p:spTree>
    <p:extLst>
      <p:ext uri="{BB962C8B-B14F-4D97-AF65-F5344CB8AC3E}">
        <p14:creationId xmlns:p14="http://schemas.microsoft.com/office/powerpoint/2010/main" val="420802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06FF4-C953-F1F3-E67F-67DE303B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C58407-DDE9-7CE1-6592-7124E06DE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85EA83FE-2502-C615-F798-4E915918360D}"/>
              </a:ext>
            </a:extLst>
          </p:cNvPr>
          <p:cNvSpPr txBox="1"/>
          <p:nvPr/>
        </p:nvSpPr>
        <p:spPr>
          <a:xfrm>
            <a:off x="100360" y="6488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  <a:endParaRPr lang="en-SA" dirty="0"/>
          </a:p>
        </p:txBody>
      </p:sp>
      <p:sp>
        <p:nvSpPr>
          <p:cNvPr id="188" name="Text 2">
            <a:extLst>
              <a:ext uri="{FF2B5EF4-FFF2-40B4-BE49-F238E27FC236}">
                <a16:creationId xmlns:a16="http://schemas.microsoft.com/office/drawing/2014/main" id="{ADA873B7-6F25-1E27-3C2D-93217E2B6E5B}"/>
              </a:ext>
            </a:extLst>
          </p:cNvPr>
          <p:cNvSpPr/>
          <p:nvPr/>
        </p:nvSpPr>
        <p:spPr>
          <a:xfrm>
            <a:off x="786384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next</a:t>
            </a:r>
            <a:endParaRPr lang="en-US" sz="3400" dirty="0"/>
          </a:p>
        </p:txBody>
      </p:sp>
      <p:sp>
        <p:nvSpPr>
          <p:cNvPr id="194" name="Text 5">
            <a:extLst>
              <a:ext uri="{FF2B5EF4-FFF2-40B4-BE49-F238E27FC236}">
                <a16:creationId xmlns:a16="http://schemas.microsoft.com/office/drawing/2014/main" id="{60020063-F754-4D60-1EF4-4CD61DC8396D}"/>
              </a:ext>
            </a:extLst>
          </p:cNvPr>
          <p:cNvSpPr/>
          <p:nvPr/>
        </p:nvSpPr>
        <p:spPr>
          <a:xfrm>
            <a:off x="104241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4" name="Text 10">
            <a:extLst>
              <a:ext uri="{FF2B5EF4-FFF2-40B4-BE49-F238E27FC236}">
                <a16:creationId xmlns:a16="http://schemas.microsoft.com/office/drawing/2014/main" id="{00538AB9-7ED0-CC44-7853-F18D1FB4531C}"/>
              </a:ext>
            </a:extLst>
          </p:cNvPr>
          <p:cNvSpPr/>
          <p:nvPr/>
        </p:nvSpPr>
        <p:spPr>
          <a:xfrm>
            <a:off x="4581144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4" name="Text 15">
            <a:extLst>
              <a:ext uri="{FF2B5EF4-FFF2-40B4-BE49-F238E27FC236}">
                <a16:creationId xmlns:a16="http://schemas.microsoft.com/office/drawing/2014/main" id="{4322CAB4-DBC2-4F82-39BA-4CCB7FBE4772}"/>
              </a:ext>
            </a:extLst>
          </p:cNvPr>
          <p:cNvSpPr/>
          <p:nvPr/>
        </p:nvSpPr>
        <p:spPr>
          <a:xfrm>
            <a:off x="8119872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0" name="Text 18">
            <a:extLst>
              <a:ext uri="{FF2B5EF4-FFF2-40B4-BE49-F238E27FC236}">
                <a16:creationId xmlns:a16="http://schemas.microsoft.com/office/drawing/2014/main" id="{FF4114F1-6D0C-12D3-56E5-08F76AEC5F27}"/>
              </a:ext>
            </a:extLst>
          </p:cNvPr>
          <p:cNvSpPr/>
          <p:nvPr/>
        </p:nvSpPr>
        <p:spPr>
          <a:xfrm>
            <a:off x="877824" y="2402089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222" name="Text 19">
            <a:extLst>
              <a:ext uri="{FF2B5EF4-FFF2-40B4-BE49-F238E27FC236}">
                <a16:creationId xmlns:a16="http://schemas.microsoft.com/office/drawing/2014/main" id="{07E6E06D-F2E8-022C-EAD7-E796B0CA6488}"/>
              </a:ext>
            </a:extLst>
          </p:cNvPr>
          <p:cNvSpPr/>
          <p:nvPr/>
        </p:nvSpPr>
        <p:spPr>
          <a:xfrm>
            <a:off x="877824" y="3233795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C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Closing line: the single sentence you want the judges to remember. ]</a:t>
            </a:r>
            <a:endParaRPr lang="en-US" sz="1300" dirty="0"/>
          </a:p>
        </p:txBody>
      </p:sp>
      <p:sp>
        <p:nvSpPr>
          <p:cNvPr id="224" name="Shape 20">
            <a:extLst>
              <a:ext uri="{FF2B5EF4-FFF2-40B4-BE49-F238E27FC236}">
                <a16:creationId xmlns:a16="http://schemas.microsoft.com/office/drawing/2014/main" id="{0EF43239-7FC7-27E3-18F6-FADDA21AECBD}"/>
              </a:ext>
            </a:extLst>
          </p:cNvPr>
          <p:cNvSpPr/>
          <p:nvPr/>
        </p:nvSpPr>
        <p:spPr>
          <a:xfrm>
            <a:off x="6763777" y="3891766"/>
            <a:ext cx="4690872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21">
            <a:extLst>
              <a:ext uri="{FF2B5EF4-FFF2-40B4-BE49-F238E27FC236}">
                <a16:creationId xmlns:a16="http://schemas.microsoft.com/office/drawing/2014/main" id="{94DB7D3B-BB3E-60E8-A808-A6D7A4AE519F}"/>
              </a:ext>
            </a:extLst>
          </p:cNvPr>
          <p:cNvSpPr/>
          <p:nvPr/>
        </p:nvSpPr>
        <p:spPr>
          <a:xfrm>
            <a:off x="7038097" y="410207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</p:txBody>
      </p:sp>
      <p:sp>
        <p:nvSpPr>
          <p:cNvPr id="228" name="Text 22">
            <a:extLst>
              <a:ext uri="{FF2B5EF4-FFF2-40B4-BE49-F238E27FC236}">
                <a16:creationId xmlns:a16="http://schemas.microsoft.com/office/drawing/2014/main" id="{F99E0B57-AFC5-F621-AF9D-3B6FB9076AA4}"/>
              </a:ext>
            </a:extLst>
          </p:cNvPr>
          <p:cNvSpPr/>
          <p:nvPr/>
        </p:nvSpPr>
        <p:spPr>
          <a:xfrm>
            <a:off x="7038097" y="439468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F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00" dirty="0"/>
          </a:p>
        </p:txBody>
      </p:sp>
      <p:sp>
        <p:nvSpPr>
          <p:cNvPr id="230" name="Text 23">
            <a:extLst>
              <a:ext uri="{FF2B5EF4-FFF2-40B4-BE49-F238E27FC236}">
                <a16:creationId xmlns:a16="http://schemas.microsoft.com/office/drawing/2014/main" id="{64CC3EB8-8660-B0BC-EA21-25A5645D98C9}"/>
              </a:ext>
            </a:extLst>
          </p:cNvPr>
          <p:cNvSpPr/>
          <p:nvPr/>
        </p:nvSpPr>
        <p:spPr>
          <a:xfrm>
            <a:off x="8363977" y="439468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]</a:t>
            </a:r>
            <a:endParaRPr lang="en-US" sz="1150" dirty="0">
              <a:solidFill>
                <a:schemeClr val="accent1"/>
              </a:solidFill>
            </a:endParaRPr>
          </a:p>
        </p:txBody>
      </p:sp>
      <p:sp>
        <p:nvSpPr>
          <p:cNvPr id="232" name="Text 24">
            <a:extLst>
              <a:ext uri="{FF2B5EF4-FFF2-40B4-BE49-F238E27FC236}">
                <a16:creationId xmlns:a16="http://schemas.microsoft.com/office/drawing/2014/main" id="{D76963A5-2E8F-CF21-434D-B3FF5CE2173B}"/>
              </a:ext>
            </a:extLst>
          </p:cNvPr>
          <p:cNvSpPr/>
          <p:nvPr/>
        </p:nvSpPr>
        <p:spPr>
          <a:xfrm>
            <a:off x="7038097" y="476044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F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34" name="Text 25">
            <a:extLst>
              <a:ext uri="{FF2B5EF4-FFF2-40B4-BE49-F238E27FC236}">
                <a16:creationId xmlns:a16="http://schemas.microsoft.com/office/drawing/2014/main" id="{FE1542DB-6018-73E0-D19C-F81DA85F0829}"/>
              </a:ext>
            </a:extLst>
          </p:cNvPr>
          <p:cNvSpPr/>
          <p:nvPr/>
        </p:nvSpPr>
        <p:spPr>
          <a:xfrm>
            <a:off x="8363977" y="476044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address ]</a:t>
            </a:r>
            <a:endParaRPr lang="en-US" sz="1150" dirty="0">
              <a:solidFill>
                <a:schemeClr val="accent1"/>
              </a:solidFill>
            </a:endParaRPr>
          </a:p>
        </p:txBody>
      </p:sp>
      <p:sp>
        <p:nvSpPr>
          <p:cNvPr id="236" name="Text 26">
            <a:extLst>
              <a:ext uri="{FF2B5EF4-FFF2-40B4-BE49-F238E27FC236}">
                <a16:creationId xmlns:a16="http://schemas.microsoft.com/office/drawing/2014/main" id="{922356C3-68C2-E7D4-1403-8AC36282EC67}"/>
              </a:ext>
            </a:extLst>
          </p:cNvPr>
          <p:cNvSpPr/>
          <p:nvPr/>
        </p:nvSpPr>
        <p:spPr>
          <a:xfrm>
            <a:off x="7038097" y="512620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F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238" name="Text 27">
            <a:extLst>
              <a:ext uri="{FF2B5EF4-FFF2-40B4-BE49-F238E27FC236}">
                <a16:creationId xmlns:a16="http://schemas.microsoft.com/office/drawing/2014/main" id="{C46EA36D-EBDD-A5E0-8863-472F9AD7D35F}"/>
              </a:ext>
            </a:extLst>
          </p:cNvPr>
          <p:cNvSpPr/>
          <p:nvPr/>
        </p:nvSpPr>
        <p:spPr>
          <a:xfrm>
            <a:off x="8363977" y="512620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number ]</a:t>
            </a:r>
            <a:endParaRPr lang="en-US" sz="1150" dirty="0">
              <a:solidFill>
                <a:schemeClr val="accent1"/>
              </a:solidFill>
            </a:endParaRPr>
          </a:p>
        </p:txBody>
      </p:sp>
      <p:sp>
        <p:nvSpPr>
          <p:cNvPr id="240" name="Text 28">
            <a:extLst>
              <a:ext uri="{FF2B5EF4-FFF2-40B4-BE49-F238E27FC236}">
                <a16:creationId xmlns:a16="http://schemas.microsoft.com/office/drawing/2014/main" id="{04E48013-1E4A-A3EF-142D-3AC2CF8F5E29}"/>
              </a:ext>
            </a:extLst>
          </p:cNvPr>
          <p:cNvSpPr/>
          <p:nvPr/>
        </p:nvSpPr>
        <p:spPr>
          <a:xfrm>
            <a:off x="786384" y="6080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Hackathon for People with Disabilities 2026  ·  King Salman Center for Disability Research  ·  hackathon.kscdr.org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6924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1195</Words>
  <Application>Microsoft Office PowerPoint</Application>
  <PresentationFormat>Widescreen</PresentationFormat>
  <Paragraphs>225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Alharbi</dc:creator>
  <cp:lastModifiedBy>Local-G</cp:lastModifiedBy>
  <cp:revision>8</cp:revision>
  <dcterms:created xsi:type="dcterms:W3CDTF">2026-08-27T11:22:32Z</dcterms:created>
  <dcterms:modified xsi:type="dcterms:W3CDTF">2026-08-27T19:47:22Z</dcterms:modified>
</cp:coreProperties>
</file>